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embeddedFontLst>
    <p:embeddedFont>
      <p:font typeface="Liter" charset="-122" pitchFamily="34"/>
      <p:regular r:id="rId19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www.shutterstock.com/75a5ad8ea4cc3c3a5c3c61876b30700440a60e49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10826" b="10826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6366F1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1188488" y="1843088"/>
            <a:ext cx="110797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spc="-180" kern="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Verbll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2986088"/>
            <a:ext cx="870585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7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AI learning platform that </a:t>
            </a:r>
            <a:pPr>
              <a:lnSpc>
                <a:spcPct val="10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knows who you are</a:t>
            </a:r>
            <a:pPr>
              <a:lnSpc>
                <a:spcPct val="100000"/>
              </a:lnSpc>
            </a:pPr>
            <a:r>
              <a:rPr lang="en-US" sz="27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381000" y="3719512"/>
            <a:ext cx="1219200" cy="38100"/>
          </a:xfrm>
          <a:custGeom>
            <a:avLst/>
            <a:gdLst/>
            <a:ahLst/>
            <a:cxnLst/>
            <a:rect l="l" t="t" r="r" b="b"/>
            <a:pathLst>
              <a:path w="1219200" h="38100">
                <a:moveTo>
                  <a:pt x="0" y="0"/>
                </a:moveTo>
                <a:lnTo>
                  <a:pt x="1219200" y="0"/>
                </a:lnTo>
                <a:lnTo>
                  <a:pt x="12192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7" name="Text 4"/>
          <p:cNvSpPr/>
          <p:nvPr/>
        </p:nvSpPr>
        <p:spPr>
          <a:xfrm>
            <a:off x="381000" y="4062412"/>
            <a:ext cx="7410450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600" dirty="0">
                <a:solidFill>
                  <a:srgbClr val="8F8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Multiple AI learning tools. One engine that knows your learner. A new standard for what edtech can be</a:t>
            </a:r>
            <a:pPr>
              <a:lnSpc>
                <a:spcPct val="14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381000" y="5710238"/>
            <a:ext cx="11430000" cy="9525"/>
          </a:xfrm>
          <a:custGeom>
            <a:avLst/>
            <a:gdLst/>
            <a:ahLst/>
            <a:cxnLst/>
            <a:rect l="l" t="t" r="r" b="b"/>
            <a:pathLst>
              <a:path w="11430000" h="9525">
                <a:moveTo>
                  <a:pt x="0" y="0"/>
                </a:moveTo>
                <a:lnTo>
                  <a:pt x="11430000" y="0"/>
                </a:lnTo>
                <a:lnTo>
                  <a:pt x="114300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9" name="Text 6"/>
          <p:cNvSpPr/>
          <p:nvPr/>
        </p:nvSpPr>
        <p:spPr>
          <a:xfrm>
            <a:off x="381000" y="5981700"/>
            <a:ext cx="3838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Sumedh Patil — Founder, Aipresso Private Limited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381000" y="6286500"/>
            <a:ext cx="38195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Registered in England &amp; Wales | Company No. 16218778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0442004" y="5943600"/>
            <a:ext cx="13716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£1,000,000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489629" y="6286500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Pre-Seed | verbll.com</a:t>
            </a:r>
            <a:endParaRPr lang="en-US" sz="1600" dirty="0"/>
          </a:p>
        </p:txBody>
      </p:sp>
      <p:pic>
        <p:nvPicPr>
          <p:cNvPr id="13" name="Image 1" descr="https://kimi-img.moonshot.cn/pub/slides/26-03-17-22:00:32-d6slt03fj2j45vb6nnp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763" y="1983369"/>
            <a:ext cx="633838" cy="633838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learning tool treats every learner the same.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That is the problem.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604963"/>
            <a:ext cx="5553075" cy="3629025"/>
          </a:xfrm>
          <a:custGeom>
            <a:avLst/>
            <a:gdLst/>
            <a:ahLst/>
            <a:cxnLst/>
            <a:rect l="l" t="t" r="r" b="b"/>
            <a:pathLst>
              <a:path w="5553075" h="3629025">
                <a:moveTo>
                  <a:pt x="114314" y="0"/>
                </a:moveTo>
                <a:lnTo>
                  <a:pt x="5438761" y="0"/>
                </a:lnTo>
                <a:cubicBezTo>
                  <a:pt x="5501895" y="0"/>
                  <a:pt x="5553075" y="51180"/>
                  <a:pt x="5553075" y="114314"/>
                </a:cubicBezTo>
                <a:lnTo>
                  <a:pt x="5553075" y="3514711"/>
                </a:lnTo>
                <a:cubicBezTo>
                  <a:pt x="5553075" y="3577845"/>
                  <a:pt x="5501895" y="3629025"/>
                  <a:pt x="5438761" y="3629025"/>
                </a:cubicBezTo>
                <a:lnTo>
                  <a:pt x="114314" y="3629025"/>
                </a:lnTo>
                <a:cubicBezTo>
                  <a:pt x="51180" y="3629025"/>
                  <a:pt x="0" y="3577845"/>
                  <a:pt x="0" y="3514711"/>
                </a:cubicBezTo>
                <a:lnTo>
                  <a:pt x="0" y="114314"/>
                </a:lnTo>
                <a:cubicBezTo>
                  <a:pt x="0" y="51180"/>
                  <a:pt x="51180" y="0"/>
                  <a:pt x="11431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19125" y="1838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47713" y="19431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18451" y="24579"/>
                </a:moveTo>
                <a:cubicBezTo>
                  <a:pt x="14265" y="20393"/>
                  <a:pt x="7467" y="20393"/>
                  <a:pt x="3282" y="24579"/>
                </a:cubicBezTo>
                <a:cubicBezTo>
                  <a:pt x="-904" y="28765"/>
                  <a:pt x="-904" y="35562"/>
                  <a:pt x="3282" y="39748"/>
                </a:cubicBezTo>
                <a:lnTo>
                  <a:pt x="49292" y="85725"/>
                </a:lnTo>
                <a:lnTo>
                  <a:pt x="3315" y="131735"/>
                </a:lnTo>
                <a:cubicBezTo>
                  <a:pt x="-871" y="135921"/>
                  <a:pt x="-871" y="142719"/>
                  <a:pt x="3315" y="146905"/>
                </a:cubicBezTo>
                <a:cubicBezTo>
                  <a:pt x="7501" y="151090"/>
                  <a:pt x="14299" y="151090"/>
                  <a:pt x="18484" y="146905"/>
                </a:cubicBezTo>
                <a:lnTo>
                  <a:pt x="64461" y="100894"/>
                </a:lnTo>
                <a:lnTo>
                  <a:pt x="110471" y="146871"/>
                </a:lnTo>
                <a:cubicBezTo>
                  <a:pt x="114657" y="151057"/>
                  <a:pt x="121455" y="151057"/>
                  <a:pt x="125641" y="146871"/>
                </a:cubicBezTo>
                <a:cubicBezTo>
                  <a:pt x="129826" y="142685"/>
                  <a:pt x="129826" y="135888"/>
                  <a:pt x="125641" y="131702"/>
                </a:cubicBezTo>
                <a:lnTo>
                  <a:pt x="79630" y="85725"/>
                </a:lnTo>
                <a:lnTo>
                  <a:pt x="125607" y="39715"/>
                </a:lnTo>
                <a:cubicBezTo>
                  <a:pt x="129793" y="35529"/>
                  <a:pt x="129793" y="28731"/>
                  <a:pt x="125607" y="24545"/>
                </a:cubicBezTo>
                <a:cubicBezTo>
                  <a:pt x="121421" y="20360"/>
                  <a:pt x="114624" y="20360"/>
                  <a:pt x="110438" y="24545"/>
                </a:cubicBezTo>
                <a:lnTo>
                  <a:pt x="64461" y="70556"/>
                </a:lnTo>
                <a:lnTo>
                  <a:pt x="18451" y="24579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114425" y="1895475"/>
            <a:ext cx="2257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learning works today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19125" y="2573610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64543" y="2535510"/>
            <a:ext cx="2619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to 7 separate tools per study session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9125" y="3091755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64543" y="3053655"/>
            <a:ext cx="2124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Zero memory across platforms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19125" y="3609901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64543" y="3571801"/>
            <a:ext cx="2371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Identical experience for every user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19125" y="4128120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4543" y="4090020"/>
            <a:ext cx="1914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Constant context switching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19125" y="4646265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4444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64543" y="4608165"/>
            <a:ext cx="2943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data connecting behaviour to outcomes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253163" y="1604963"/>
            <a:ext cx="5553075" cy="3629025"/>
          </a:xfrm>
          <a:custGeom>
            <a:avLst/>
            <a:gdLst/>
            <a:ahLst/>
            <a:cxnLst/>
            <a:rect l="l" t="t" r="r" b="b"/>
            <a:pathLst>
              <a:path w="5553075" h="3629025">
                <a:moveTo>
                  <a:pt x="114314" y="0"/>
                </a:moveTo>
                <a:lnTo>
                  <a:pt x="5438761" y="0"/>
                </a:lnTo>
                <a:cubicBezTo>
                  <a:pt x="5501895" y="0"/>
                  <a:pt x="5553075" y="51180"/>
                  <a:pt x="5553075" y="114314"/>
                </a:cubicBezTo>
                <a:lnTo>
                  <a:pt x="5553075" y="3514711"/>
                </a:lnTo>
                <a:cubicBezTo>
                  <a:pt x="5553075" y="3577845"/>
                  <a:pt x="5501895" y="3629025"/>
                  <a:pt x="5438761" y="3629025"/>
                </a:cubicBezTo>
                <a:lnTo>
                  <a:pt x="114314" y="3629025"/>
                </a:lnTo>
                <a:cubicBezTo>
                  <a:pt x="51180" y="3629025"/>
                  <a:pt x="0" y="3577845"/>
                  <a:pt x="0" y="3514711"/>
                </a:cubicBezTo>
                <a:lnTo>
                  <a:pt x="0" y="114314"/>
                </a:lnTo>
                <a:cubicBezTo>
                  <a:pt x="0" y="51180"/>
                  <a:pt x="51180" y="0"/>
                  <a:pt x="11431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86525" y="1838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0B98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6604397" y="194310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45599" y="23474"/>
                </a:moveTo>
                <a:cubicBezTo>
                  <a:pt x="150387" y="26956"/>
                  <a:pt x="151459" y="33654"/>
                  <a:pt x="147976" y="38442"/>
                </a:cubicBezTo>
                <a:lnTo>
                  <a:pt x="62251" y="156314"/>
                </a:lnTo>
                <a:cubicBezTo>
                  <a:pt x="60409" y="158859"/>
                  <a:pt x="57563" y="160433"/>
                  <a:pt x="54415" y="160701"/>
                </a:cubicBezTo>
                <a:cubicBezTo>
                  <a:pt x="51268" y="160969"/>
                  <a:pt x="48220" y="159797"/>
                  <a:pt x="46010" y="157587"/>
                </a:cubicBezTo>
                <a:lnTo>
                  <a:pt x="3148" y="114724"/>
                </a:lnTo>
                <a:cubicBezTo>
                  <a:pt x="-1038" y="110538"/>
                  <a:pt x="-1038" y="103741"/>
                  <a:pt x="3148" y="99555"/>
                </a:cubicBezTo>
                <a:cubicBezTo>
                  <a:pt x="7334" y="95369"/>
                  <a:pt x="14131" y="95369"/>
                  <a:pt x="18317" y="99555"/>
                </a:cubicBezTo>
                <a:lnTo>
                  <a:pt x="52306" y="133543"/>
                </a:lnTo>
                <a:lnTo>
                  <a:pt x="130664" y="25818"/>
                </a:lnTo>
                <a:cubicBezTo>
                  <a:pt x="134146" y="21029"/>
                  <a:pt x="140843" y="19958"/>
                  <a:pt x="145632" y="2344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6981825" y="1895475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learners actually need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86525" y="2573610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731943" y="2535510"/>
            <a:ext cx="18573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connected workspace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86525" y="3091755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31943" y="3053655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that remembers and adapts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86525" y="3609901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731943" y="3571801"/>
            <a:ext cx="29146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Experience built around their learning style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86525" y="4128120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731943" y="4090020"/>
            <a:ext cx="26384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Intelligence that compounds over time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86525" y="4646265"/>
            <a:ext cx="209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—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731943" y="4608165"/>
            <a:ext cx="29971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Advance tools with shared user memory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00050" y="5467350"/>
            <a:ext cx="11410950" cy="1009650"/>
          </a:xfrm>
          <a:custGeom>
            <a:avLst/>
            <a:gdLst/>
            <a:ahLst/>
            <a:cxnLst/>
            <a:rect l="l" t="t" r="r" b="b"/>
            <a:pathLst>
              <a:path w="11410950" h="1009650">
                <a:moveTo>
                  <a:pt x="0" y="0"/>
                </a:moveTo>
                <a:lnTo>
                  <a:pt x="11296648" y="0"/>
                </a:lnTo>
                <a:cubicBezTo>
                  <a:pt x="11359775" y="0"/>
                  <a:pt x="11410950" y="51175"/>
                  <a:pt x="11410950" y="114302"/>
                </a:cubicBezTo>
                <a:lnTo>
                  <a:pt x="11410950" y="895348"/>
                </a:lnTo>
                <a:cubicBezTo>
                  <a:pt x="11410950" y="958475"/>
                  <a:pt x="11359775" y="1009650"/>
                  <a:pt x="11296648" y="1009650"/>
                </a:cubicBez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34" name="Shape 32"/>
          <p:cNvSpPr/>
          <p:nvPr/>
        </p:nvSpPr>
        <p:spPr>
          <a:xfrm>
            <a:off x="400050" y="5467350"/>
            <a:ext cx="38100" cy="1009650"/>
          </a:xfrm>
          <a:custGeom>
            <a:avLst/>
            <a:gdLst/>
            <a:ahLst/>
            <a:cxnLst/>
            <a:rect l="l" t="t" r="r" b="b"/>
            <a:pathLst>
              <a:path w="38100" h="1009650">
                <a:moveTo>
                  <a:pt x="0" y="0"/>
                </a:moveTo>
                <a:lnTo>
                  <a:pt x="38100" y="0"/>
                </a:lnTo>
                <a:lnTo>
                  <a:pt x="38100" y="1009650"/>
                </a:lnTo>
                <a:lnTo>
                  <a:pt x="0" y="100965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609600" y="5657850"/>
            <a:ext cx="1109662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67%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of students now use AI tools regularly to learn — yet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not one platform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profiles how they learn and adapts accordingly. The market has tools. It does not have intelligence.</a:t>
            </a:r>
            <a:endParaRPr lang="en-US" sz="1600" dirty="0"/>
          </a:p>
        </p:txBody>
      </p:sp>
      <p:pic>
        <p:nvPicPr>
          <p:cNvPr id="36" name="Image 0" descr="https://kimi-img.moonshot.cn/pub/slides/26-03-17-22:00:32-d6slt03fj2j45vb6nn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0975" y="222541"/>
            <a:ext cx="425159" cy="42515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Verbll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connected AI learning platform that builds a model of each learner and gets sharper every session.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566863"/>
            <a:ext cx="5610225" cy="1552575"/>
          </a:xfrm>
          <a:custGeom>
            <a:avLst/>
            <a:gdLst/>
            <a:ahLst/>
            <a:cxnLst/>
            <a:rect l="l" t="t" r="r" b="b"/>
            <a:pathLst>
              <a:path w="5610225" h="155257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1438274"/>
                </a:lnTo>
                <a:cubicBezTo>
                  <a:pt x="5610225" y="1501401"/>
                  <a:pt x="5559051" y="1552575"/>
                  <a:pt x="5495924" y="1552575"/>
                </a:cubicBezTo>
                <a:lnTo>
                  <a:pt x="114301" y="1552575"/>
                </a:lnTo>
                <a:cubicBezTo>
                  <a:pt x="51174" y="1552575"/>
                  <a:pt x="0" y="1501401"/>
                  <a:pt x="0" y="143827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762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57225" y="1838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6764" y="-744"/>
                </a:moveTo>
                <a:cubicBezTo>
                  <a:pt x="72658" y="-4137"/>
                  <a:pt x="79921" y="-4137"/>
                  <a:pt x="85814" y="-744"/>
                </a:cubicBezTo>
                <a:lnTo>
                  <a:pt x="138172" y="29468"/>
                </a:lnTo>
                <a:cubicBezTo>
                  <a:pt x="144066" y="32861"/>
                  <a:pt x="147697" y="39172"/>
                  <a:pt x="147697" y="45958"/>
                </a:cubicBezTo>
                <a:lnTo>
                  <a:pt x="147697" y="106382"/>
                </a:lnTo>
                <a:cubicBezTo>
                  <a:pt x="147697" y="113199"/>
                  <a:pt x="144066" y="119479"/>
                  <a:pt x="138172" y="122872"/>
                </a:cubicBezTo>
                <a:lnTo>
                  <a:pt x="85814" y="153144"/>
                </a:lnTo>
                <a:cubicBezTo>
                  <a:pt x="79921" y="156537"/>
                  <a:pt x="72658" y="156537"/>
                  <a:pt x="66764" y="153144"/>
                </a:cubicBezTo>
                <a:lnTo>
                  <a:pt x="14436" y="122932"/>
                </a:lnTo>
                <a:cubicBezTo>
                  <a:pt x="8543" y="119539"/>
                  <a:pt x="4911" y="113228"/>
                  <a:pt x="4911" y="106442"/>
                </a:cubicBezTo>
                <a:lnTo>
                  <a:pt x="4911" y="46018"/>
                </a:lnTo>
                <a:cubicBezTo>
                  <a:pt x="4911" y="39201"/>
                  <a:pt x="8543" y="32921"/>
                  <a:pt x="14436" y="29528"/>
                </a:cubicBezTo>
                <a:lnTo>
                  <a:pt x="66764" y="-744"/>
                </a:lnTo>
                <a:close/>
                <a:moveTo>
                  <a:pt x="128617" y="106412"/>
                </a:moveTo>
                <a:lnTo>
                  <a:pt x="128617" y="56971"/>
                </a:lnTo>
                <a:lnTo>
                  <a:pt x="85814" y="81677"/>
                </a:lnTo>
                <a:lnTo>
                  <a:pt x="85814" y="131118"/>
                </a:lnTo>
                <a:lnTo>
                  <a:pt x="128617" y="10641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00125" y="1781175"/>
            <a:ext cx="790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it 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181225"/>
            <a:ext cx="5295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Seven purpose-built AI learning tools unified under one platform —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Chat, Brainstorm, Code Now, Course Designer, Deep Research, Video Summarizer, My Notes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 and more AI enhanced tools later.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3281363"/>
            <a:ext cx="5610225" cy="1552575"/>
          </a:xfrm>
          <a:custGeom>
            <a:avLst/>
            <a:gdLst/>
            <a:ahLst/>
            <a:cxnLst/>
            <a:rect l="l" t="t" r="r" b="b"/>
            <a:pathLst>
              <a:path w="5610225" h="1552575">
                <a:moveTo>
                  <a:pt x="114301" y="0"/>
                </a:moveTo>
                <a:lnTo>
                  <a:pt x="5495924" y="0"/>
                </a:lnTo>
                <a:cubicBezTo>
                  <a:pt x="5559051" y="0"/>
                  <a:pt x="5610225" y="51174"/>
                  <a:pt x="5610225" y="114301"/>
                </a:cubicBezTo>
                <a:lnTo>
                  <a:pt x="5610225" y="1438274"/>
                </a:lnTo>
                <a:cubicBezTo>
                  <a:pt x="5610225" y="1501401"/>
                  <a:pt x="5559051" y="1552575"/>
                  <a:pt x="5495924" y="1552575"/>
                </a:cubicBezTo>
                <a:lnTo>
                  <a:pt x="114301" y="1552575"/>
                </a:lnTo>
                <a:cubicBezTo>
                  <a:pt x="51174" y="1552575"/>
                  <a:pt x="0" y="1501401"/>
                  <a:pt x="0" y="1438274"/>
                </a:cubicBezTo>
                <a:lnTo>
                  <a:pt x="0" y="114301"/>
                </a:lnTo>
                <a:cubicBezTo>
                  <a:pt x="0" y="51174"/>
                  <a:pt x="51174" y="0"/>
                  <a:pt x="114301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1025" y="34766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57225" y="3552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4288" y="76200"/>
                </a:moveTo>
                <a:cubicBezTo>
                  <a:pt x="14288" y="41999"/>
                  <a:pt x="41999" y="14288"/>
                  <a:pt x="76200" y="14288"/>
                </a:cubicBezTo>
                <a:cubicBezTo>
                  <a:pt x="94982" y="14288"/>
                  <a:pt x="111800" y="22652"/>
                  <a:pt x="123170" y="35868"/>
                </a:cubicBezTo>
                <a:cubicBezTo>
                  <a:pt x="125730" y="38874"/>
                  <a:pt x="130254" y="39201"/>
                  <a:pt x="133231" y="36641"/>
                </a:cubicBezTo>
                <a:cubicBezTo>
                  <a:pt x="136208" y="34082"/>
                  <a:pt x="136565" y="29557"/>
                  <a:pt x="134005" y="26581"/>
                </a:cubicBezTo>
                <a:cubicBezTo>
                  <a:pt x="120045" y="10299"/>
                  <a:pt x="99328" y="0"/>
                  <a:pt x="76200" y="0"/>
                </a:cubicBezTo>
                <a:cubicBezTo>
                  <a:pt x="34111" y="0"/>
                  <a:pt x="0" y="34111"/>
                  <a:pt x="0" y="76200"/>
                </a:cubicBezTo>
                <a:lnTo>
                  <a:pt x="0" y="88106"/>
                </a:lnTo>
                <a:cubicBezTo>
                  <a:pt x="0" y="92065"/>
                  <a:pt x="3185" y="95250"/>
                  <a:pt x="7144" y="95250"/>
                </a:cubicBezTo>
                <a:cubicBezTo>
                  <a:pt x="11103" y="95250"/>
                  <a:pt x="14288" y="92065"/>
                  <a:pt x="14288" y="88106"/>
                </a:cubicBezTo>
                <a:lnTo>
                  <a:pt x="14288" y="76200"/>
                </a:lnTo>
                <a:close/>
                <a:moveTo>
                  <a:pt x="150763" y="60454"/>
                </a:moveTo>
                <a:cubicBezTo>
                  <a:pt x="149959" y="56584"/>
                  <a:pt x="146149" y="54114"/>
                  <a:pt x="142309" y="54947"/>
                </a:cubicBezTo>
                <a:cubicBezTo>
                  <a:pt x="138470" y="55781"/>
                  <a:pt x="135969" y="59561"/>
                  <a:pt x="136803" y="63401"/>
                </a:cubicBezTo>
                <a:cubicBezTo>
                  <a:pt x="137666" y="67538"/>
                  <a:pt x="138142" y="71824"/>
                  <a:pt x="138142" y="76230"/>
                </a:cubicBezTo>
                <a:lnTo>
                  <a:pt x="138142" y="88136"/>
                </a:lnTo>
                <a:cubicBezTo>
                  <a:pt x="138142" y="92095"/>
                  <a:pt x="141327" y="95280"/>
                  <a:pt x="145286" y="95280"/>
                </a:cubicBezTo>
                <a:cubicBezTo>
                  <a:pt x="149245" y="95280"/>
                  <a:pt x="152430" y="92095"/>
                  <a:pt x="152430" y="88136"/>
                </a:cubicBezTo>
                <a:lnTo>
                  <a:pt x="152430" y="76230"/>
                </a:lnTo>
                <a:cubicBezTo>
                  <a:pt x="152430" y="70842"/>
                  <a:pt x="151864" y="65574"/>
                  <a:pt x="150793" y="60484"/>
                </a:cubicBezTo>
                <a:close/>
                <a:moveTo>
                  <a:pt x="76200" y="23813"/>
                </a:moveTo>
                <a:cubicBezTo>
                  <a:pt x="70545" y="23813"/>
                  <a:pt x="65068" y="24705"/>
                  <a:pt x="59978" y="26372"/>
                </a:cubicBezTo>
                <a:cubicBezTo>
                  <a:pt x="55453" y="27861"/>
                  <a:pt x="54412" y="33427"/>
                  <a:pt x="57507" y="37058"/>
                </a:cubicBezTo>
                <a:cubicBezTo>
                  <a:pt x="59621" y="39529"/>
                  <a:pt x="63103" y="40273"/>
                  <a:pt x="66258" y="39410"/>
                </a:cubicBezTo>
                <a:cubicBezTo>
                  <a:pt x="69413" y="38546"/>
                  <a:pt x="72747" y="38100"/>
                  <a:pt x="76200" y="38100"/>
                </a:cubicBezTo>
                <a:cubicBezTo>
                  <a:pt x="97244" y="38100"/>
                  <a:pt x="114300" y="55156"/>
                  <a:pt x="114300" y="76200"/>
                </a:cubicBezTo>
                <a:lnTo>
                  <a:pt x="114300" y="83612"/>
                </a:lnTo>
                <a:cubicBezTo>
                  <a:pt x="114300" y="91113"/>
                  <a:pt x="113854" y="98584"/>
                  <a:pt x="112990" y="106025"/>
                </a:cubicBezTo>
                <a:cubicBezTo>
                  <a:pt x="112484" y="110371"/>
                  <a:pt x="115788" y="114300"/>
                  <a:pt x="120194" y="114300"/>
                </a:cubicBezTo>
                <a:cubicBezTo>
                  <a:pt x="123706" y="114300"/>
                  <a:pt x="126712" y="111740"/>
                  <a:pt x="127129" y="108258"/>
                </a:cubicBezTo>
                <a:cubicBezTo>
                  <a:pt x="128111" y="100102"/>
                  <a:pt x="128617" y="91886"/>
                  <a:pt x="128617" y="83641"/>
                </a:cubicBezTo>
                <a:lnTo>
                  <a:pt x="128617" y="76230"/>
                </a:lnTo>
                <a:cubicBezTo>
                  <a:pt x="128617" y="47298"/>
                  <a:pt x="105162" y="23842"/>
                  <a:pt x="76230" y="23842"/>
                </a:cubicBezTo>
                <a:close/>
                <a:moveTo>
                  <a:pt x="44857" y="44261"/>
                </a:moveTo>
                <a:cubicBezTo>
                  <a:pt x="42148" y="41106"/>
                  <a:pt x="37326" y="40868"/>
                  <a:pt x="34766" y="44142"/>
                </a:cubicBezTo>
                <a:cubicBezTo>
                  <a:pt x="27890" y="53013"/>
                  <a:pt x="23812" y="64115"/>
                  <a:pt x="23812" y="76200"/>
                </a:cubicBezTo>
                <a:lnTo>
                  <a:pt x="23812" y="83612"/>
                </a:lnTo>
                <a:cubicBezTo>
                  <a:pt x="23812" y="90815"/>
                  <a:pt x="23039" y="98018"/>
                  <a:pt x="21491" y="105013"/>
                </a:cubicBezTo>
                <a:cubicBezTo>
                  <a:pt x="20479" y="109657"/>
                  <a:pt x="23842" y="114270"/>
                  <a:pt x="28605" y="114270"/>
                </a:cubicBezTo>
                <a:cubicBezTo>
                  <a:pt x="31730" y="114270"/>
                  <a:pt x="34528" y="112187"/>
                  <a:pt x="35213" y="109121"/>
                </a:cubicBezTo>
                <a:cubicBezTo>
                  <a:pt x="37118" y="100757"/>
                  <a:pt x="38100" y="92214"/>
                  <a:pt x="38100" y="83582"/>
                </a:cubicBezTo>
                <a:lnTo>
                  <a:pt x="38100" y="76170"/>
                </a:lnTo>
                <a:cubicBezTo>
                  <a:pt x="38100" y="68074"/>
                  <a:pt x="40630" y="60573"/>
                  <a:pt x="44916" y="54412"/>
                </a:cubicBezTo>
                <a:cubicBezTo>
                  <a:pt x="47059" y="51316"/>
                  <a:pt x="47298" y="47089"/>
                  <a:pt x="44857" y="44232"/>
                </a:cubicBezTo>
                <a:close/>
                <a:moveTo>
                  <a:pt x="76200" y="47625"/>
                </a:moveTo>
                <a:cubicBezTo>
                  <a:pt x="60424" y="47625"/>
                  <a:pt x="47625" y="60424"/>
                  <a:pt x="47625" y="76200"/>
                </a:cubicBezTo>
                <a:lnTo>
                  <a:pt x="47625" y="83612"/>
                </a:lnTo>
                <a:cubicBezTo>
                  <a:pt x="47625" y="94298"/>
                  <a:pt x="46256" y="104894"/>
                  <a:pt x="43517" y="115193"/>
                </a:cubicBezTo>
                <a:cubicBezTo>
                  <a:pt x="42386" y="119449"/>
                  <a:pt x="45512" y="123825"/>
                  <a:pt x="49917" y="123825"/>
                </a:cubicBezTo>
                <a:cubicBezTo>
                  <a:pt x="52745" y="123825"/>
                  <a:pt x="55245" y="121980"/>
                  <a:pt x="55989" y="119241"/>
                </a:cubicBezTo>
                <a:cubicBezTo>
                  <a:pt x="59115" y="107633"/>
                  <a:pt x="60722" y="95667"/>
                  <a:pt x="60722" y="83612"/>
                </a:cubicBezTo>
                <a:lnTo>
                  <a:pt x="60722" y="76200"/>
                </a:lnTo>
                <a:cubicBezTo>
                  <a:pt x="60722" y="67657"/>
                  <a:pt x="67657" y="60722"/>
                  <a:pt x="76200" y="60722"/>
                </a:cubicBezTo>
                <a:cubicBezTo>
                  <a:pt x="84743" y="60722"/>
                  <a:pt x="91678" y="67657"/>
                  <a:pt x="91678" y="76200"/>
                </a:cubicBezTo>
                <a:lnTo>
                  <a:pt x="91678" y="83612"/>
                </a:lnTo>
                <a:cubicBezTo>
                  <a:pt x="91678" y="94417"/>
                  <a:pt x="90636" y="105162"/>
                  <a:pt x="88583" y="115729"/>
                </a:cubicBezTo>
                <a:cubicBezTo>
                  <a:pt x="87779" y="119866"/>
                  <a:pt x="90874" y="123825"/>
                  <a:pt x="95071" y="123825"/>
                </a:cubicBezTo>
                <a:cubicBezTo>
                  <a:pt x="98108" y="123825"/>
                  <a:pt x="100727" y="121741"/>
                  <a:pt x="101322" y="118765"/>
                </a:cubicBezTo>
                <a:cubicBezTo>
                  <a:pt x="103614" y="107216"/>
                  <a:pt x="104775" y="95458"/>
                  <a:pt x="104775" y="83612"/>
                </a:cubicBezTo>
                <a:lnTo>
                  <a:pt x="104775" y="76200"/>
                </a:lnTo>
                <a:cubicBezTo>
                  <a:pt x="104775" y="60424"/>
                  <a:pt x="91976" y="47625"/>
                  <a:pt x="76200" y="47625"/>
                </a:cubicBezTo>
                <a:close/>
                <a:moveTo>
                  <a:pt x="83344" y="76200"/>
                </a:moveTo>
                <a:cubicBezTo>
                  <a:pt x="83344" y="72241"/>
                  <a:pt x="80159" y="69056"/>
                  <a:pt x="76200" y="69056"/>
                </a:cubicBezTo>
                <a:cubicBezTo>
                  <a:pt x="72241" y="69056"/>
                  <a:pt x="69056" y="72241"/>
                  <a:pt x="69056" y="76200"/>
                </a:cubicBezTo>
                <a:lnTo>
                  <a:pt x="69056" y="83612"/>
                </a:lnTo>
                <a:cubicBezTo>
                  <a:pt x="69056" y="101441"/>
                  <a:pt x="65782" y="119122"/>
                  <a:pt x="59382" y="135761"/>
                </a:cubicBezTo>
                <a:lnTo>
                  <a:pt x="57626" y="140315"/>
                </a:lnTo>
                <a:cubicBezTo>
                  <a:pt x="56197" y="144006"/>
                  <a:pt x="58043" y="148144"/>
                  <a:pt x="61734" y="149543"/>
                </a:cubicBezTo>
                <a:cubicBezTo>
                  <a:pt x="65425" y="150941"/>
                  <a:pt x="69562" y="149126"/>
                  <a:pt x="70961" y="145435"/>
                </a:cubicBezTo>
                <a:lnTo>
                  <a:pt x="72717" y="140881"/>
                </a:lnTo>
                <a:cubicBezTo>
                  <a:pt x="79742" y="122605"/>
                  <a:pt x="83344" y="103197"/>
                  <a:pt x="83344" y="83612"/>
                </a:cubicBezTo>
                <a:lnTo>
                  <a:pt x="83344" y="7620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00125" y="3495675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makes it different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1025" y="3895725"/>
            <a:ext cx="5295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proprietary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learner intelligence engine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that profiles each user from day one and personalises every tool response to how that specific person thinks and learns.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196013" y="1566863"/>
            <a:ext cx="5610225" cy="1304925"/>
          </a:xfrm>
          <a:custGeom>
            <a:avLst/>
            <a:gdLst/>
            <a:ahLst/>
            <a:cxnLst/>
            <a:rect l="l" t="t" r="r" b="b"/>
            <a:pathLst>
              <a:path w="5610225" h="1304925">
                <a:moveTo>
                  <a:pt x="114298" y="0"/>
                </a:moveTo>
                <a:lnTo>
                  <a:pt x="5495927" y="0"/>
                </a:lnTo>
                <a:cubicBezTo>
                  <a:pt x="5559052" y="0"/>
                  <a:pt x="5610225" y="51173"/>
                  <a:pt x="5610225" y="114298"/>
                </a:cubicBezTo>
                <a:lnTo>
                  <a:pt x="5610225" y="1190627"/>
                </a:lnTo>
                <a:cubicBezTo>
                  <a:pt x="5610225" y="1253752"/>
                  <a:pt x="5559052" y="1304925"/>
                  <a:pt x="5495927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91275" y="176212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467475" y="18383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0" y="76200"/>
                </a:moveTo>
                <a:cubicBezTo>
                  <a:pt x="0" y="34144"/>
                  <a:pt x="34144" y="0"/>
                  <a:pt x="76200" y="0"/>
                </a:cubicBezTo>
                <a:cubicBezTo>
                  <a:pt x="118256" y="0"/>
                  <a:pt x="152400" y="34144"/>
                  <a:pt x="152400" y="76200"/>
                </a:cubicBezTo>
                <a:cubicBezTo>
                  <a:pt x="152400" y="118256"/>
                  <a:pt x="118256" y="152400"/>
                  <a:pt x="76200" y="152400"/>
                </a:cubicBezTo>
                <a:cubicBezTo>
                  <a:pt x="34144" y="152400"/>
                  <a:pt x="0" y="118256"/>
                  <a:pt x="0" y="76200"/>
                </a:cubicBezTo>
                <a:close/>
                <a:moveTo>
                  <a:pt x="56049" y="43785"/>
                </a:moveTo>
                <a:cubicBezTo>
                  <a:pt x="53786" y="45035"/>
                  <a:pt x="52388" y="47446"/>
                  <a:pt x="52388" y="50006"/>
                </a:cubicBezTo>
                <a:lnTo>
                  <a:pt x="52388" y="102394"/>
                </a:lnTo>
                <a:cubicBezTo>
                  <a:pt x="52388" y="104983"/>
                  <a:pt x="53786" y="107365"/>
                  <a:pt x="56049" y="108615"/>
                </a:cubicBezTo>
                <a:cubicBezTo>
                  <a:pt x="58311" y="109865"/>
                  <a:pt x="61049" y="109835"/>
                  <a:pt x="63282" y="108466"/>
                </a:cubicBezTo>
                <a:lnTo>
                  <a:pt x="106144" y="82272"/>
                </a:lnTo>
                <a:cubicBezTo>
                  <a:pt x="108258" y="80962"/>
                  <a:pt x="109567" y="78671"/>
                  <a:pt x="109567" y="76170"/>
                </a:cubicBezTo>
                <a:cubicBezTo>
                  <a:pt x="109567" y="73670"/>
                  <a:pt x="108258" y="71378"/>
                  <a:pt x="106144" y="70068"/>
                </a:cubicBezTo>
                <a:lnTo>
                  <a:pt x="63282" y="43875"/>
                </a:lnTo>
                <a:cubicBezTo>
                  <a:pt x="61079" y="42535"/>
                  <a:pt x="58311" y="42476"/>
                  <a:pt x="56049" y="4372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6810375" y="1781175"/>
            <a:ext cx="10382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starts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91275" y="218122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12-part game-based benchmark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onboarding. Measures processing speed, reasoning, accuracy, and learning instincts across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cognitive dimensions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6013" y="3033713"/>
            <a:ext cx="5610225" cy="1304925"/>
          </a:xfrm>
          <a:custGeom>
            <a:avLst/>
            <a:gdLst/>
            <a:ahLst/>
            <a:cxnLst/>
            <a:rect l="l" t="t" r="r" b="b"/>
            <a:pathLst>
              <a:path w="5610225" h="1304925">
                <a:moveTo>
                  <a:pt x="114298" y="0"/>
                </a:moveTo>
                <a:lnTo>
                  <a:pt x="5495927" y="0"/>
                </a:lnTo>
                <a:cubicBezTo>
                  <a:pt x="5559052" y="0"/>
                  <a:pt x="5610225" y="51173"/>
                  <a:pt x="5610225" y="114298"/>
                </a:cubicBezTo>
                <a:lnTo>
                  <a:pt x="5610225" y="1190627"/>
                </a:lnTo>
                <a:cubicBezTo>
                  <a:pt x="5610225" y="1253752"/>
                  <a:pt x="5559052" y="1304925"/>
                  <a:pt x="5495927" y="1304925"/>
                </a:cubicBezTo>
                <a:lnTo>
                  <a:pt x="114298" y="1304925"/>
                </a:lnTo>
                <a:cubicBezTo>
                  <a:pt x="51173" y="1304925"/>
                  <a:pt x="0" y="1253752"/>
                  <a:pt x="0" y="1190627"/>
                </a:cubicBezTo>
                <a:lnTo>
                  <a:pt x="0" y="114298"/>
                </a:lnTo>
                <a:cubicBezTo>
                  <a:pt x="0" y="51215"/>
                  <a:pt x="51215" y="0"/>
                  <a:pt x="114298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391275" y="3228975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76200" y="0"/>
                </a:moveTo>
                <a:lnTo>
                  <a:pt x="228600" y="0"/>
                </a:lnTo>
                <a:cubicBezTo>
                  <a:pt x="270656" y="0"/>
                  <a:pt x="304800" y="34144"/>
                  <a:pt x="304800" y="76200"/>
                </a:cubicBezTo>
                <a:lnTo>
                  <a:pt x="304800" y="228600"/>
                </a:lnTo>
                <a:cubicBezTo>
                  <a:pt x="304800" y="270656"/>
                  <a:pt x="270656" y="304800"/>
                  <a:pt x="228600" y="304800"/>
                </a:cubicBezTo>
                <a:lnTo>
                  <a:pt x="76200" y="304800"/>
                </a:lnTo>
                <a:cubicBezTo>
                  <a:pt x="34144" y="304800"/>
                  <a:pt x="0" y="270656"/>
                  <a:pt x="0" y="2286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67475" y="33051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6810375" y="3248025"/>
            <a:ext cx="15049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it compounds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91275" y="364807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session adds signal. The platform builds a richer learner model over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60–90 days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The longer a user stays, the more precisely every tool works for them.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00050" y="5924550"/>
            <a:ext cx="11410950" cy="552450"/>
          </a:xfrm>
          <a:custGeom>
            <a:avLst/>
            <a:gdLst/>
            <a:ahLst/>
            <a:cxnLst/>
            <a:rect l="l" t="t" r="r" b="b"/>
            <a:pathLst>
              <a:path w="11410950" h="552450">
                <a:moveTo>
                  <a:pt x="0" y="0"/>
                </a:moveTo>
                <a:lnTo>
                  <a:pt x="11296648" y="0"/>
                </a:lnTo>
                <a:cubicBezTo>
                  <a:pt x="11359775" y="0"/>
                  <a:pt x="11410950" y="51175"/>
                  <a:pt x="11410950" y="114302"/>
                </a:cubicBezTo>
                <a:lnTo>
                  <a:pt x="11410950" y="438148"/>
                </a:lnTo>
                <a:cubicBezTo>
                  <a:pt x="11410950" y="501275"/>
                  <a:pt x="11359775" y="552450"/>
                  <a:pt x="11296648" y="552450"/>
                </a:cubicBez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0B98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6" name="Shape 24"/>
          <p:cNvSpPr/>
          <p:nvPr/>
        </p:nvSpPr>
        <p:spPr>
          <a:xfrm>
            <a:off x="400050" y="5924550"/>
            <a:ext cx="38100" cy="552450"/>
          </a:xfrm>
          <a:custGeom>
            <a:avLst/>
            <a:gdLst/>
            <a:ahLst/>
            <a:cxnLst/>
            <a:rect l="l" t="t" r="r" b="b"/>
            <a:pathLst>
              <a:path w="38100" h="552450">
                <a:moveTo>
                  <a:pt x="0" y="0"/>
                </a:moveTo>
                <a:lnTo>
                  <a:pt x="38100" y="0"/>
                </a:lnTo>
                <a:lnTo>
                  <a:pt x="38100" y="552450"/>
                </a:lnTo>
                <a:lnTo>
                  <a:pt x="0" y="55245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7" name="Shape 25"/>
          <p:cNvSpPr/>
          <p:nvPr/>
        </p:nvSpPr>
        <p:spPr>
          <a:xfrm>
            <a:off x="609600" y="612457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87184" y="114300"/>
                </a:moveTo>
                <a:cubicBezTo>
                  <a:pt x="89356" y="107662"/>
                  <a:pt x="93702" y="101650"/>
                  <a:pt x="98614" y="96470"/>
                </a:cubicBezTo>
                <a:cubicBezTo>
                  <a:pt x="108347" y="86231"/>
                  <a:pt x="114300" y="72390"/>
                  <a:pt x="114300" y="57150"/>
                </a:cubicBezTo>
                <a:cubicBezTo>
                  <a:pt x="114300" y="25598"/>
                  <a:pt x="88702" y="0"/>
                  <a:pt x="57150" y="0"/>
                </a:cubicBezTo>
                <a:cubicBezTo>
                  <a:pt x="25598" y="0"/>
                  <a:pt x="0" y="25598"/>
                  <a:pt x="0" y="57150"/>
                </a:cubicBezTo>
                <a:cubicBezTo>
                  <a:pt x="0" y="72390"/>
                  <a:pt x="5953" y="86231"/>
                  <a:pt x="15686" y="96470"/>
                </a:cubicBezTo>
                <a:cubicBezTo>
                  <a:pt x="20598" y="101650"/>
                  <a:pt x="24973" y="107662"/>
                  <a:pt x="27116" y="114300"/>
                </a:cubicBezTo>
                <a:lnTo>
                  <a:pt x="87154" y="114300"/>
                </a:lnTo>
                <a:close/>
                <a:moveTo>
                  <a:pt x="85725" y="128588"/>
                </a:moveTo>
                <a:lnTo>
                  <a:pt x="28575" y="128588"/>
                </a:lnTo>
                <a:lnTo>
                  <a:pt x="28575" y="133350"/>
                </a:lnTo>
                <a:cubicBezTo>
                  <a:pt x="28575" y="146506"/>
                  <a:pt x="39231" y="157163"/>
                  <a:pt x="52388" y="157163"/>
                </a:cubicBezTo>
                <a:lnTo>
                  <a:pt x="61912" y="157163"/>
                </a:lnTo>
                <a:cubicBezTo>
                  <a:pt x="75069" y="157163"/>
                  <a:pt x="85725" y="146506"/>
                  <a:pt x="85725" y="133350"/>
                </a:cubicBezTo>
                <a:lnTo>
                  <a:pt x="85725" y="128588"/>
                </a:lnTo>
                <a:close/>
                <a:moveTo>
                  <a:pt x="54769" y="33338"/>
                </a:moveTo>
                <a:cubicBezTo>
                  <a:pt x="42922" y="33338"/>
                  <a:pt x="33338" y="42922"/>
                  <a:pt x="33338" y="54769"/>
                </a:cubicBezTo>
                <a:cubicBezTo>
                  <a:pt x="33338" y="58728"/>
                  <a:pt x="30153" y="61912"/>
                  <a:pt x="26194" y="61912"/>
                </a:cubicBezTo>
                <a:cubicBezTo>
                  <a:pt x="22235" y="61912"/>
                  <a:pt x="19050" y="58728"/>
                  <a:pt x="19050" y="54769"/>
                </a:cubicBezTo>
                <a:cubicBezTo>
                  <a:pt x="19050" y="35034"/>
                  <a:pt x="35034" y="19050"/>
                  <a:pt x="54769" y="19050"/>
                </a:cubicBezTo>
                <a:cubicBezTo>
                  <a:pt x="58728" y="19050"/>
                  <a:pt x="61912" y="22235"/>
                  <a:pt x="61912" y="26194"/>
                </a:cubicBezTo>
                <a:cubicBezTo>
                  <a:pt x="61912" y="30153"/>
                  <a:pt x="58728" y="33338"/>
                  <a:pt x="54769" y="33338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6"/>
          <p:cNvSpPr/>
          <p:nvPr/>
        </p:nvSpPr>
        <p:spPr>
          <a:xfrm>
            <a:off x="819150" y="6076950"/>
            <a:ext cx="1091565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is not an AI wrapper. It is a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learner data platform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the intelligence layer that no single-tool competitor can replicate without starting over from scratch.</a:t>
            </a:r>
            <a:endParaRPr lang="en-US" sz="1600" dirty="0"/>
          </a:p>
        </p:txBody>
      </p:sp>
      <p:pic>
        <p:nvPicPr>
          <p:cNvPr id="29" name="Image 0" descr="https://kimi-img.moonshot.cn/pub/slides/26-03-17-22:00:32-d6slt03fj2j45vb6nn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0975" y="222541"/>
            <a:ext cx="425159" cy="42515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MARKET OPPORTUNITY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$187B market.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AI personalisation segment growing at 41% CAGR. No dominant player yet.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566863"/>
            <a:ext cx="3695700" cy="1276350"/>
          </a:xfrm>
          <a:custGeom>
            <a:avLst/>
            <a:gdLst/>
            <a:ahLst/>
            <a:cxnLst/>
            <a:rect l="l" t="t" r="r" b="b"/>
            <a:pathLst>
              <a:path w="3695700" h="1276350">
                <a:moveTo>
                  <a:pt x="114297" y="0"/>
                </a:moveTo>
                <a:lnTo>
                  <a:pt x="3581403" y="0"/>
                </a:lnTo>
                <a:cubicBezTo>
                  <a:pt x="3644485" y="0"/>
                  <a:pt x="3695700" y="51215"/>
                  <a:pt x="3695700" y="114297"/>
                </a:cubicBezTo>
                <a:lnTo>
                  <a:pt x="3695700" y="1162053"/>
                </a:lnTo>
                <a:cubicBezTo>
                  <a:pt x="3695700" y="1225135"/>
                  <a:pt x="3644485" y="1276350"/>
                  <a:pt x="3581403" y="1276350"/>
                </a:cubicBezTo>
                <a:lnTo>
                  <a:pt x="114297" y="1276350"/>
                </a:lnTo>
                <a:cubicBezTo>
                  <a:pt x="51215" y="1276350"/>
                  <a:pt x="0" y="1225135"/>
                  <a:pt x="0" y="11620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1824038"/>
            <a:ext cx="347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$187B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7688" y="2281238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EdTech market 2025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930375" y="2547938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Shape 7"/>
          <p:cNvSpPr/>
          <p:nvPr/>
        </p:nvSpPr>
        <p:spPr>
          <a:xfrm>
            <a:off x="4246513" y="1566863"/>
            <a:ext cx="3695700" cy="1276350"/>
          </a:xfrm>
          <a:custGeom>
            <a:avLst/>
            <a:gdLst/>
            <a:ahLst/>
            <a:cxnLst/>
            <a:rect l="l" t="t" r="r" b="b"/>
            <a:pathLst>
              <a:path w="3695700" h="1276350">
                <a:moveTo>
                  <a:pt x="114297" y="0"/>
                </a:moveTo>
                <a:lnTo>
                  <a:pt x="3581403" y="0"/>
                </a:lnTo>
                <a:cubicBezTo>
                  <a:pt x="3644485" y="0"/>
                  <a:pt x="3695700" y="51215"/>
                  <a:pt x="3695700" y="114297"/>
                </a:cubicBezTo>
                <a:lnTo>
                  <a:pt x="3695700" y="1162053"/>
                </a:lnTo>
                <a:cubicBezTo>
                  <a:pt x="3695700" y="1225135"/>
                  <a:pt x="3644485" y="1276350"/>
                  <a:pt x="3581403" y="1276350"/>
                </a:cubicBezTo>
                <a:lnTo>
                  <a:pt x="114297" y="1276350"/>
                </a:lnTo>
                <a:cubicBezTo>
                  <a:pt x="51215" y="1276350"/>
                  <a:pt x="0" y="1225135"/>
                  <a:pt x="0" y="11620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56050" y="1824038"/>
            <a:ext cx="347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$348B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408438" y="2281238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Projected by 2030 — 13.3% CAGR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791126" y="2547938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Shape 11"/>
          <p:cNvSpPr/>
          <p:nvPr/>
        </p:nvSpPr>
        <p:spPr>
          <a:xfrm>
            <a:off x="8107338" y="1566863"/>
            <a:ext cx="3695700" cy="1276350"/>
          </a:xfrm>
          <a:custGeom>
            <a:avLst/>
            <a:gdLst/>
            <a:ahLst/>
            <a:cxnLst/>
            <a:rect l="l" t="t" r="r" b="b"/>
            <a:pathLst>
              <a:path w="3695700" h="1276350">
                <a:moveTo>
                  <a:pt x="114297" y="0"/>
                </a:moveTo>
                <a:lnTo>
                  <a:pt x="3581403" y="0"/>
                </a:lnTo>
                <a:cubicBezTo>
                  <a:pt x="3644485" y="0"/>
                  <a:pt x="3695700" y="51215"/>
                  <a:pt x="3695700" y="114297"/>
                </a:cubicBezTo>
                <a:lnTo>
                  <a:pt x="3695700" y="1162053"/>
                </a:lnTo>
                <a:cubicBezTo>
                  <a:pt x="3695700" y="1225135"/>
                  <a:pt x="3644485" y="1276350"/>
                  <a:pt x="3581403" y="1276350"/>
                </a:cubicBezTo>
                <a:lnTo>
                  <a:pt x="114297" y="1276350"/>
                </a:lnTo>
                <a:cubicBezTo>
                  <a:pt x="51215" y="1276350"/>
                  <a:pt x="0" y="1225135"/>
                  <a:pt x="0" y="11620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16875" y="1824038"/>
            <a:ext cx="347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$41B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69263" y="2281238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in education by 2030 — 43% CAGR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9651950" y="2547938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Shape 15"/>
          <p:cNvSpPr/>
          <p:nvPr/>
        </p:nvSpPr>
        <p:spPr>
          <a:xfrm>
            <a:off x="385763" y="3005138"/>
            <a:ext cx="3695700" cy="1276350"/>
          </a:xfrm>
          <a:custGeom>
            <a:avLst/>
            <a:gdLst/>
            <a:ahLst/>
            <a:cxnLst/>
            <a:rect l="l" t="t" r="r" b="b"/>
            <a:pathLst>
              <a:path w="3695700" h="1276350">
                <a:moveTo>
                  <a:pt x="114297" y="0"/>
                </a:moveTo>
                <a:lnTo>
                  <a:pt x="3581403" y="0"/>
                </a:lnTo>
                <a:cubicBezTo>
                  <a:pt x="3644485" y="0"/>
                  <a:pt x="3695700" y="51215"/>
                  <a:pt x="3695700" y="114297"/>
                </a:cubicBezTo>
                <a:lnTo>
                  <a:pt x="3695700" y="1162053"/>
                </a:lnTo>
                <a:cubicBezTo>
                  <a:pt x="3695700" y="1225135"/>
                  <a:pt x="3644485" y="1276350"/>
                  <a:pt x="3581403" y="1276350"/>
                </a:cubicBezTo>
                <a:lnTo>
                  <a:pt x="114297" y="1276350"/>
                </a:lnTo>
                <a:cubicBezTo>
                  <a:pt x="51215" y="1276350"/>
                  <a:pt x="0" y="1225135"/>
                  <a:pt x="0" y="11620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5300" y="3262313"/>
            <a:ext cx="347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$208B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7688" y="3719512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personalised learning by 2034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930375" y="3986213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1" name="Shape 19"/>
          <p:cNvSpPr/>
          <p:nvPr/>
        </p:nvSpPr>
        <p:spPr>
          <a:xfrm>
            <a:off x="4246513" y="3005138"/>
            <a:ext cx="3695700" cy="1276350"/>
          </a:xfrm>
          <a:custGeom>
            <a:avLst/>
            <a:gdLst/>
            <a:ahLst/>
            <a:cxnLst/>
            <a:rect l="l" t="t" r="r" b="b"/>
            <a:pathLst>
              <a:path w="3695700" h="1276350">
                <a:moveTo>
                  <a:pt x="114297" y="0"/>
                </a:moveTo>
                <a:lnTo>
                  <a:pt x="3581403" y="0"/>
                </a:lnTo>
                <a:cubicBezTo>
                  <a:pt x="3644485" y="0"/>
                  <a:pt x="3695700" y="51215"/>
                  <a:pt x="3695700" y="114297"/>
                </a:cubicBezTo>
                <a:lnTo>
                  <a:pt x="3695700" y="1162053"/>
                </a:lnTo>
                <a:cubicBezTo>
                  <a:pt x="3695700" y="1225135"/>
                  <a:pt x="3644485" y="1276350"/>
                  <a:pt x="3581403" y="1276350"/>
                </a:cubicBezTo>
                <a:lnTo>
                  <a:pt x="114297" y="1276350"/>
                </a:lnTo>
                <a:cubicBezTo>
                  <a:pt x="51215" y="1276350"/>
                  <a:pt x="0" y="1225135"/>
                  <a:pt x="0" y="11620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56050" y="3262313"/>
            <a:ext cx="347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67%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08438" y="3719512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Students already using AI tools regularly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5791126" y="3986213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Shape 23"/>
          <p:cNvSpPr/>
          <p:nvPr/>
        </p:nvSpPr>
        <p:spPr>
          <a:xfrm>
            <a:off x="8107338" y="3005138"/>
            <a:ext cx="3695700" cy="1276350"/>
          </a:xfrm>
          <a:custGeom>
            <a:avLst/>
            <a:gdLst/>
            <a:ahLst/>
            <a:cxnLst/>
            <a:rect l="l" t="t" r="r" b="b"/>
            <a:pathLst>
              <a:path w="3695700" h="1276350">
                <a:moveTo>
                  <a:pt x="114297" y="0"/>
                </a:moveTo>
                <a:lnTo>
                  <a:pt x="3581403" y="0"/>
                </a:lnTo>
                <a:cubicBezTo>
                  <a:pt x="3644485" y="0"/>
                  <a:pt x="3695700" y="51215"/>
                  <a:pt x="3695700" y="114297"/>
                </a:cubicBezTo>
                <a:lnTo>
                  <a:pt x="3695700" y="1162053"/>
                </a:lnTo>
                <a:cubicBezTo>
                  <a:pt x="3695700" y="1225135"/>
                  <a:pt x="3644485" y="1276350"/>
                  <a:pt x="3581403" y="1276350"/>
                </a:cubicBezTo>
                <a:lnTo>
                  <a:pt x="114297" y="1276350"/>
                </a:lnTo>
                <a:cubicBezTo>
                  <a:pt x="51215" y="1276350"/>
                  <a:pt x="0" y="1225135"/>
                  <a:pt x="0" y="1162053"/>
                </a:cubicBezTo>
                <a:lnTo>
                  <a:pt x="0" y="114297"/>
                </a:lnTo>
                <a:cubicBezTo>
                  <a:pt x="0" y="51215"/>
                  <a:pt x="51215" y="0"/>
                  <a:pt x="11429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16875" y="3262313"/>
            <a:ext cx="34766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$29B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69263" y="3719512"/>
            <a:ext cx="33718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India EdTech alone by 2030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51950" y="3986213"/>
            <a:ext cx="609600" cy="38100"/>
          </a:xfrm>
          <a:custGeom>
            <a:avLst/>
            <a:gdLst/>
            <a:ahLst/>
            <a:cxnLst/>
            <a:rect l="l" t="t" r="r" b="b"/>
            <a:pathLst>
              <a:path w="609600" h="38100">
                <a:moveTo>
                  <a:pt x="19050" y="0"/>
                </a:moveTo>
                <a:lnTo>
                  <a:pt x="590550" y="0"/>
                </a:lnTo>
                <a:cubicBezTo>
                  <a:pt x="601064" y="0"/>
                  <a:pt x="609600" y="8536"/>
                  <a:pt x="609600" y="19050"/>
                </a:cubicBezTo>
                <a:lnTo>
                  <a:pt x="609600" y="19050"/>
                </a:lnTo>
                <a:cubicBezTo>
                  <a:pt x="609600" y="29564"/>
                  <a:pt x="601064" y="38100"/>
                  <a:pt x="590550" y="38100"/>
                </a:cubicBezTo>
                <a:lnTo>
                  <a:pt x="19050" y="38100"/>
                </a:lnTo>
                <a:cubicBezTo>
                  <a:pt x="8536" y="38100"/>
                  <a:pt x="0" y="29564"/>
                  <a:pt x="0" y="19050"/>
                </a:cubicBezTo>
                <a:lnTo>
                  <a:pt x="0" y="19050"/>
                </a:lnTo>
                <a:cubicBezTo>
                  <a:pt x="0" y="8536"/>
                  <a:pt x="8536" y="0"/>
                  <a:pt x="190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9" name="Shape 27"/>
          <p:cNvSpPr/>
          <p:nvPr/>
        </p:nvSpPr>
        <p:spPr>
          <a:xfrm>
            <a:off x="385763" y="4481513"/>
            <a:ext cx="11420475" cy="1724025"/>
          </a:xfrm>
          <a:custGeom>
            <a:avLst/>
            <a:gdLst/>
            <a:ahLst/>
            <a:cxnLst/>
            <a:rect l="l" t="t" r="r" b="b"/>
            <a:pathLst>
              <a:path w="11420475" h="1724025">
                <a:moveTo>
                  <a:pt x="114303" y="0"/>
                </a:moveTo>
                <a:lnTo>
                  <a:pt x="11306172" y="0"/>
                </a:lnTo>
                <a:cubicBezTo>
                  <a:pt x="11369258" y="0"/>
                  <a:pt x="11420475" y="51217"/>
                  <a:pt x="11420475" y="114303"/>
                </a:cubicBezTo>
                <a:lnTo>
                  <a:pt x="11420475" y="1609722"/>
                </a:lnTo>
                <a:cubicBezTo>
                  <a:pt x="11420475" y="1672808"/>
                  <a:pt x="11369258" y="1724025"/>
                  <a:pt x="11306172" y="1724025"/>
                </a:cubicBezTo>
                <a:lnTo>
                  <a:pt x="114303" y="1724025"/>
                </a:lnTo>
                <a:cubicBezTo>
                  <a:pt x="51217" y="1724025"/>
                  <a:pt x="0" y="1672808"/>
                  <a:pt x="0" y="16097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4838" y="472440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50019" y="85725"/>
                </a:moveTo>
                <a:cubicBezTo>
                  <a:pt x="150019" y="50240"/>
                  <a:pt x="121210" y="21431"/>
                  <a:pt x="85725" y="21431"/>
                </a:cubicBezTo>
                <a:cubicBezTo>
                  <a:pt x="50240" y="21431"/>
                  <a:pt x="21431" y="50240"/>
                  <a:pt x="21431" y="85725"/>
                </a:cubicBezTo>
                <a:cubicBezTo>
                  <a:pt x="21431" y="121210"/>
                  <a:pt x="50240" y="150019"/>
                  <a:pt x="85725" y="150019"/>
                </a:cubicBezTo>
                <a:cubicBezTo>
                  <a:pt x="121210" y="150019"/>
                  <a:pt x="150019" y="121210"/>
                  <a:pt x="150019" y="85725"/>
                </a:cubicBezTo>
                <a:close/>
                <a:moveTo>
                  <a:pt x="0" y="85725"/>
                </a:moveTo>
                <a:cubicBezTo>
                  <a:pt x="0" y="38412"/>
                  <a:pt x="38412" y="0"/>
                  <a:pt x="85725" y="0"/>
                </a:cubicBez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lose/>
                <a:moveTo>
                  <a:pt x="85725" y="112514"/>
                </a:moveTo>
                <a:cubicBezTo>
                  <a:pt x="100510" y="112514"/>
                  <a:pt x="112514" y="100510"/>
                  <a:pt x="112514" y="85725"/>
                </a:cubicBezTo>
                <a:cubicBezTo>
                  <a:pt x="112514" y="70940"/>
                  <a:pt x="100510" y="58936"/>
                  <a:pt x="85725" y="58936"/>
                </a:cubicBezTo>
                <a:cubicBezTo>
                  <a:pt x="70940" y="58936"/>
                  <a:pt x="58936" y="70940"/>
                  <a:pt x="58936" y="85725"/>
                </a:cubicBezTo>
                <a:cubicBezTo>
                  <a:pt x="58936" y="100510"/>
                  <a:pt x="70940" y="112514"/>
                  <a:pt x="85725" y="112514"/>
                </a:cubicBezTo>
                <a:close/>
                <a:moveTo>
                  <a:pt x="85725" y="37505"/>
                </a:moveTo>
                <a:cubicBezTo>
                  <a:pt x="112339" y="37505"/>
                  <a:pt x="133945" y="59111"/>
                  <a:pt x="133945" y="85725"/>
                </a:cubicBezTo>
                <a:cubicBezTo>
                  <a:pt x="133945" y="112339"/>
                  <a:pt x="112339" y="133945"/>
                  <a:pt x="85725" y="133945"/>
                </a:cubicBezTo>
                <a:cubicBezTo>
                  <a:pt x="59111" y="133945"/>
                  <a:pt x="37505" y="112339"/>
                  <a:pt x="37505" y="85725"/>
                </a:cubicBezTo>
                <a:cubicBezTo>
                  <a:pt x="37505" y="59111"/>
                  <a:pt x="59111" y="37505"/>
                  <a:pt x="85725" y="37505"/>
                </a:cubicBezTo>
                <a:close/>
                <a:moveTo>
                  <a:pt x="75009" y="85725"/>
                </a:moveTo>
                <a:cubicBezTo>
                  <a:pt x="75009" y="79811"/>
                  <a:pt x="79811" y="75009"/>
                  <a:pt x="85725" y="75009"/>
                </a:cubicBezTo>
                <a:cubicBezTo>
                  <a:pt x="91639" y="75009"/>
                  <a:pt x="96441" y="79811"/>
                  <a:pt x="96441" y="85725"/>
                </a:cubicBezTo>
                <a:cubicBezTo>
                  <a:pt x="96441" y="91639"/>
                  <a:pt x="91639" y="96441"/>
                  <a:pt x="85725" y="96441"/>
                </a:cubicBezTo>
                <a:cubicBezTo>
                  <a:pt x="79811" y="96441"/>
                  <a:pt x="75009" y="91639"/>
                  <a:pt x="75009" y="857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800100" y="4676775"/>
            <a:ext cx="10896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Verbll's addressable market — TAM → SAM → SOM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600075" y="5095875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3" name="Text 31"/>
          <p:cNvSpPr/>
          <p:nvPr/>
        </p:nvSpPr>
        <p:spPr>
          <a:xfrm>
            <a:off x="771525" y="50958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TAM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771525" y="5324475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$187B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71525" y="5629275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Global EdTech — students, professionals, researchers worldwide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327475" y="5095875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4498925" y="50958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SAM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4498925" y="5324475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~$22B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498925" y="5629275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AI-native personalised learning platforms, UK + India + Europe, English-medium learners aged 16–35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054950" y="5095875"/>
            <a:ext cx="38100" cy="914400"/>
          </a:xfrm>
          <a:custGeom>
            <a:avLst/>
            <a:gdLst/>
            <a:ahLst/>
            <a:cxnLst/>
            <a:rect l="l" t="t" r="r" b="b"/>
            <a:pathLst>
              <a:path w="38100" h="914400">
                <a:moveTo>
                  <a:pt x="0" y="0"/>
                </a:moveTo>
                <a:lnTo>
                  <a:pt x="38100" y="0"/>
                </a:lnTo>
                <a:lnTo>
                  <a:pt x="38100" y="914400"/>
                </a:lnTo>
                <a:lnTo>
                  <a:pt x="0" y="914400"/>
                </a:lnTo>
                <a:lnTo>
                  <a:pt x="0" y="0"/>
                </a:ln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1" name="Text 39"/>
          <p:cNvSpPr/>
          <p:nvPr/>
        </p:nvSpPr>
        <p:spPr>
          <a:xfrm>
            <a:off x="8226400" y="5095875"/>
            <a:ext cx="3448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SOM (Year 1–2)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226400" y="5324475"/>
            <a:ext cx="3476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$1.8 M ARR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26400" y="5629275"/>
            <a:ext cx="34480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100k  users at $15/month. 0.05% of SAM. Highly achievable.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381000" y="6324600"/>
            <a:ext cx="1148715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9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Sources: Grand View Research, Mordor Intelligence, Precedence Research, IBEF India 2025</a:t>
            </a:r>
            <a:endParaRPr lang="en-US" sz="1600" dirty="0"/>
          </a:p>
        </p:txBody>
      </p:sp>
      <p:pic>
        <p:nvPicPr>
          <p:cNvPr id="45" name="Image 0" descr="https://kimi-img.moonshot.cn/pub/slides/26-03-17-22:00:32-d6slt03fj2j45vb6nn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0975" y="222541"/>
            <a:ext cx="425159" cy="42515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NOW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Three forces are converging right now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That make this the exact moment to launch.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6002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628650" y="1733550"/>
            <a:ext cx="2571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85863" y="1604963"/>
            <a:ext cx="10620375" cy="1228725"/>
          </a:xfrm>
          <a:custGeom>
            <a:avLst/>
            <a:gdLst/>
            <a:ahLst/>
            <a:cxnLst/>
            <a:rect l="l" t="t" r="r" b="b"/>
            <a:pathLst>
              <a:path w="10620375" h="1228725">
                <a:moveTo>
                  <a:pt x="114296" y="0"/>
                </a:moveTo>
                <a:lnTo>
                  <a:pt x="10506079" y="0"/>
                </a:lnTo>
                <a:cubicBezTo>
                  <a:pt x="10569203" y="0"/>
                  <a:pt x="10620375" y="51172"/>
                  <a:pt x="10620375" y="114296"/>
                </a:cubicBezTo>
                <a:lnTo>
                  <a:pt x="10620375" y="1114429"/>
                </a:lnTo>
                <a:cubicBezTo>
                  <a:pt x="10620375" y="1177553"/>
                  <a:pt x="10569203" y="1228725"/>
                  <a:pt x="1050607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81125" y="1800225"/>
            <a:ext cx="1032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 capability crossed the threshold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81125" y="2143125"/>
            <a:ext cx="10306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LLMs are now powerful enough to drive genuine personalisation at the tool level.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Two years ago this product could not be built to this standard.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Today it can — and Verbll has already built it.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3419475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602754" y="3552825"/>
            <a:ext cx="30480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85863" y="3424238"/>
            <a:ext cx="10620375" cy="1228725"/>
          </a:xfrm>
          <a:custGeom>
            <a:avLst/>
            <a:gdLst/>
            <a:ahLst/>
            <a:cxnLst/>
            <a:rect l="l" t="t" r="r" b="b"/>
            <a:pathLst>
              <a:path w="10620375" h="1228725">
                <a:moveTo>
                  <a:pt x="114296" y="0"/>
                </a:moveTo>
                <a:lnTo>
                  <a:pt x="10506079" y="0"/>
                </a:lnTo>
                <a:cubicBezTo>
                  <a:pt x="10569203" y="0"/>
                  <a:pt x="10620375" y="51172"/>
                  <a:pt x="10620375" y="114296"/>
                </a:cubicBezTo>
                <a:lnTo>
                  <a:pt x="10620375" y="1114429"/>
                </a:lnTo>
                <a:cubicBezTo>
                  <a:pt x="10620375" y="1177553"/>
                  <a:pt x="10569203" y="1228725"/>
                  <a:pt x="1050607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1125" y="3619500"/>
            <a:ext cx="1032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Learner behaviour has permanently shifted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81125" y="3962400"/>
            <a:ext cx="10306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67% of students use AI tools regularly.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habit is formed. The question is no longer whether learners will use AI — it is which platform earns their trust and their data first.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523875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52400" y="0"/>
                </a:moveTo>
                <a:lnTo>
                  <a:pt x="457200" y="0"/>
                </a:lnTo>
                <a:cubicBezTo>
                  <a:pt x="541312" y="0"/>
                  <a:pt x="609600" y="68288"/>
                  <a:pt x="609600" y="152400"/>
                </a:cubicBezTo>
                <a:lnTo>
                  <a:pt x="609600" y="457200"/>
                </a:lnTo>
                <a:cubicBezTo>
                  <a:pt x="609600" y="541312"/>
                  <a:pt x="541312" y="609600"/>
                  <a:pt x="457200" y="609600"/>
                </a:cubicBezTo>
                <a:lnTo>
                  <a:pt x="152400" y="609600"/>
                </a:lnTo>
                <a:cubicBezTo>
                  <a:pt x="68288" y="609600"/>
                  <a:pt x="0" y="541312"/>
                  <a:pt x="0" y="45720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601489" y="5372100"/>
            <a:ext cx="31432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85863" y="5243513"/>
            <a:ext cx="10620375" cy="1228725"/>
          </a:xfrm>
          <a:custGeom>
            <a:avLst/>
            <a:gdLst/>
            <a:ahLst/>
            <a:cxnLst/>
            <a:rect l="l" t="t" r="r" b="b"/>
            <a:pathLst>
              <a:path w="10620375" h="1228725">
                <a:moveTo>
                  <a:pt x="114296" y="0"/>
                </a:moveTo>
                <a:lnTo>
                  <a:pt x="10506079" y="0"/>
                </a:lnTo>
                <a:cubicBezTo>
                  <a:pt x="10569203" y="0"/>
                  <a:pt x="10620375" y="51172"/>
                  <a:pt x="10620375" y="114296"/>
                </a:cubicBezTo>
                <a:lnTo>
                  <a:pt x="10620375" y="1114429"/>
                </a:lnTo>
                <a:cubicBezTo>
                  <a:pt x="10620375" y="1177553"/>
                  <a:pt x="10569203" y="1228725"/>
                  <a:pt x="1050607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81125" y="5438775"/>
            <a:ext cx="10325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market is fragmented with no unified platform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81125" y="5781675"/>
            <a:ext cx="103060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Khan Academy, Notion, Perplexity, GitHub Copilot, Coursera — each owns a slice.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None of them connect.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The integrated, personalised platform does not yet exist at scale. Verbll is 5–7 weeks from full deployment.</a:t>
            </a:r>
            <a:endParaRPr lang="en-US" sz="1600" dirty="0"/>
          </a:p>
        </p:txBody>
      </p:sp>
      <p:pic>
        <p:nvPicPr>
          <p:cNvPr id="20" name="Image 0" descr="https://kimi-img.moonshot.cn/pub/slides/26-03-17-22:00:32-d6slt03fj2j45vb6nn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0975" y="222541"/>
            <a:ext cx="425159" cy="42515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Seven tools. One platform.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Fully built. Launching in 5–7 weeks. More tools each month.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566863"/>
            <a:ext cx="2733675" cy="2371725"/>
          </a:xfrm>
          <a:custGeom>
            <a:avLst/>
            <a:gdLst/>
            <a:ahLst/>
            <a:cxnLst/>
            <a:rect l="l" t="t" r="r" b="b"/>
            <a:pathLst>
              <a:path w="2733675" h="2371725">
                <a:moveTo>
                  <a:pt x="114293" y="0"/>
                </a:moveTo>
                <a:lnTo>
                  <a:pt x="2619382" y="0"/>
                </a:lnTo>
                <a:cubicBezTo>
                  <a:pt x="2682462" y="0"/>
                  <a:pt x="2733675" y="51213"/>
                  <a:pt x="2733675" y="114293"/>
                </a:cubicBezTo>
                <a:lnTo>
                  <a:pt x="2733675" y="2257432"/>
                </a:lnTo>
                <a:cubicBezTo>
                  <a:pt x="2733675" y="2320512"/>
                  <a:pt x="2682462" y="2371725"/>
                  <a:pt x="261938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2925" y="1724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39366" y="18288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8588" y="48220"/>
                </a:moveTo>
                <a:cubicBezTo>
                  <a:pt x="128588" y="80769"/>
                  <a:pt x="99789" y="107156"/>
                  <a:pt x="64294" y="107156"/>
                </a:cubicBezTo>
                <a:cubicBezTo>
                  <a:pt x="55353" y="107156"/>
                  <a:pt x="46847" y="105482"/>
                  <a:pt x="39112" y="102468"/>
                </a:cubicBezTo>
                <a:lnTo>
                  <a:pt x="11787" y="116934"/>
                </a:lnTo>
                <a:cubicBezTo>
                  <a:pt x="8673" y="118575"/>
                  <a:pt x="4856" y="118006"/>
                  <a:pt x="2344" y="115528"/>
                </a:cubicBezTo>
                <a:cubicBezTo>
                  <a:pt x="-167" y="113050"/>
                  <a:pt x="-737" y="109199"/>
                  <a:pt x="938" y="106085"/>
                </a:cubicBezTo>
                <a:lnTo>
                  <a:pt x="12859" y="83582"/>
                </a:lnTo>
                <a:cubicBezTo>
                  <a:pt x="4789" y="73737"/>
                  <a:pt x="0" y="61481"/>
                  <a:pt x="0" y="48220"/>
                </a:cubicBezTo>
                <a:cubicBezTo>
                  <a:pt x="0" y="15672"/>
                  <a:pt x="28798" y="-10716"/>
                  <a:pt x="64294" y="-10716"/>
                </a:cubicBezTo>
                <a:cubicBezTo>
                  <a:pt x="99789" y="-10716"/>
                  <a:pt x="128588" y="15672"/>
                  <a:pt x="128588" y="48220"/>
                </a:cubicBezTo>
                <a:close/>
                <a:moveTo>
                  <a:pt x="128588" y="171450"/>
                </a:moveTo>
                <a:cubicBezTo>
                  <a:pt x="97077" y="171450"/>
                  <a:pt x="70857" y="150655"/>
                  <a:pt x="65365" y="123230"/>
                </a:cubicBezTo>
                <a:cubicBezTo>
                  <a:pt x="105549" y="122727"/>
                  <a:pt x="140475" y="94130"/>
                  <a:pt x="144326" y="55353"/>
                </a:cubicBezTo>
                <a:cubicBezTo>
                  <a:pt x="172220" y="61782"/>
                  <a:pt x="192881" y="84921"/>
                  <a:pt x="192881" y="112514"/>
                </a:cubicBezTo>
                <a:cubicBezTo>
                  <a:pt x="192881" y="125775"/>
                  <a:pt x="188093" y="138031"/>
                  <a:pt x="180023" y="147876"/>
                </a:cubicBezTo>
                <a:lnTo>
                  <a:pt x="191944" y="170378"/>
                </a:lnTo>
                <a:cubicBezTo>
                  <a:pt x="193584" y="173493"/>
                  <a:pt x="193015" y="177310"/>
                  <a:pt x="190537" y="179822"/>
                </a:cubicBezTo>
                <a:cubicBezTo>
                  <a:pt x="188059" y="182333"/>
                  <a:pt x="184208" y="182902"/>
                  <a:pt x="181094" y="181228"/>
                </a:cubicBezTo>
                <a:lnTo>
                  <a:pt x="153769" y="166762"/>
                </a:lnTo>
                <a:cubicBezTo>
                  <a:pt x="146034" y="169776"/>
                  <a:pt x="137528" y="171450"/>
                  <a:pt x="128588" y="17145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542925" y="2219325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2925" y="2562225"/>
            <a:ext cx="24860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Persistent memory. Responds to your cognitive profile, not the average user. More user chat, more personlized output.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281363" y="1566863"/>
            <a:ext cx="2733675" cy="2371725"/>
          </a:xfrm>
          <a:custGeom>
            <a:avLst/>
            <a:gdLst/>
            <a:ahLst/>
            <a:cxnLst/>
            <a:rect l="l" t="t" r="r" b="b"/>
            <a:pathLst>
              <a:path w="2733675" h="2371725">
                <a:moveTo>
                  <a:pt x="114293" y="0"/>
                </a:moveTo>
                <a:lnTo>
                  <a:pt x="2619382" y="0"/>
                </a:lnTo>
                <a:cubicBezTo>
                  <a:pt x="2682462" y="0"/>
                  <a:pt x="2733675" y="51213"/>
                  <a:pt x="2733675" y="114293"/>
                </a:cubicBezTo>
                <a:lnTo>
                  <a:pt x="2733675" y="2257432"/>
                </a:lnTo>
                <a:cubicBezTo>
                  <a:pt x="2733675" y="2320512"/>
                  <a:pt x="2682462" y="2371725"/>
                  <a:pt x="261938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38525" y="1724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3567113" y="1828800"/>
            <a:ext cx="128588" cy="171450"/>
          </a:xfrm>
          <a:custGeom>
            <a:avLst/>
            <a:gdLst/>
            <a:ahLst/>
            <a:cxnLst/>
            <a:rect l="l" t="t" r="r" b="b"/>
            <a:pathLst>
              <a:path w="128588" h="171450">
                <a:moveTo>
                  <a:pt x="98081" y="128588"/>
                </a:moveTo>
                <a:cubicBezTo>
                  <a:pt x="100526" y="121120"/>
                  <a:pt x="105415" y="114356"/>
                  <a:pt x="110940" y="108529"/>
                </a:cubicBezTo>
                <a:cubicBezTo>
                  <a:pt x="121890" y="97010"/>
                  <a:pt x="128587" y="81439"/>
                  <a:pt x="128587" y="64294"/>
                </a:cubicBezTo>
                <a:cubicBezTo>
                  <a:pt x="128587" y="28798"/>
                  <a:pt x="99789" y="0"/>
                  <a:pt x="64294" y="0"/>
                </a:cubicBezTo>
                <a:cubicBezTo>
                  <a:pt x="28798" y="0"/>
                  <a:pt x="0" y="28798"/>
                  <a:pt x="0" y="64294"/>
                </a:cubicBezTo>
                <a:cubicBezTo>
                  <a:pt x="0" y="81439"/>
                  <a:pt x="6697" y="97010"/>
                  <a:pt x="17647" y="108529"/>
                </a:cubicBezTo>
                <a:cubicBezTo>
                  <a:pt x="23173" y="114356"/>
                  <a:pt x="28095" y="121120"/>
                  <a:pt x="30506" y="128588"/>
                </a:cubicBezTo>
                <a:lnTo>
                  <a:pt x="98048" y="128588"/>
                </a:lnTo>
                <a:close/>
                <a:moveTo>
                  <a:pt x="96441" y="144661"/>
                </a:moveTo>
                <a:lnTo>
                  <a:pt x="32147" y="144661"/>
                </a:lnTo>
                <a:lnTo>
                  <a:pt x="32147" y="150019"/>
                </a:lnTo>
                <a:cubicBezTo>
                  <a:pt x="32147" y="164820"/>
                  <a:pt x="44135" y="176808"/>
                  <a:pt x="58936" y="176808"/>
                </a:cubicBezTo>
                <a:lnTo>
                  <a:pt x="69652" y="176808"/>
                </a:lnTo>
                <a:cubicBezTo>
                  <a:pt x="84453" y="176808"/>
                  <a:pt x="96441" y="164820"/>
                  <a:pt x="96441" y="150019"/>
                </a:cubicBezTo>
                <a:lnTo>
                  <a:pt x="96441" y="144661"/>
                </a:lnTo>
                <a:close/>
                <a:moveTo>
                  <a:pt x="61615" y="37505"/>
                </a:moveTo>
                <a:cubicBezTo>
                  <a:pt x="48287" y="37505"/>
                  <a:pt x="37505" y="48287"/>
                  <a:pt x="37505" y="61615"/>
                </a:cubicBezTo>
                <a:cubicBezTo>
                  <a:pt x="37505" y="66069"/>
                  <a:pt x="33922" y="69652"/>
                  <a:pt x="29468" y="69652"/>
                </a:cubicBezTo>
                <a:cubicBezTo>
                  <a:pt x="25014" y="69652"/>
                  <a:pt x="21431" y="66069"/>
                  <a:pt x="21431" y="61615"/>
                </a:cubicBezTo>
                <a:cubicBezTo>
                  <a:pt x="21431" y="39413"/>
                  <a:pt x="39413" y="21431"/>
                  <a:pt x="61615" y="21431"/>
                </a:cubicBezTo>
                <a:cubicBezTo>
                  <a:pt x="66069" y="21431"/>
                  <a:pt x="69652" y="25014"/>
                  <a:pt x="69652" y="29468"/>
                </a:cubicBezTo>
                <a:cubicBezTo>
                  <a:pt x="69652" y="33922"/>
                  <a:pt x="66069" y="37505"/>
                  <a:pt x="61615" y="3750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3438525" y="2219325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Brainstorm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6963" y="1566863"/>
            <a:ext cx="2733675" cy="2371725"/>
          </a:xfrm>
          <a:custGeom>
            <a:avLst/>
            <a:gdLst/>
            <a:ahLst/>
            <a:cxnLst/>
            <a:rect l="l" t="t" r="r" b="b"/>
            <a:pathLst>
              <a:path w="2733675" h="2371725">
                <a:moveTo>
                  <a:pt x="114293" y="0"/>
                </a:moveTo>
                <a:lnTo>
                  <a:pt x="2619382" y="0"/>
                </a:lnTo>
                <a:cubicBezTo>
                  <a:pt x="2682462" y="0"/>
                  <a:pt x="2733675" y="51213"/>
                  <a:pt x="2733675" y="114293"/>
                </a:cubicBezTo>
                <a:lnTo>
                  <a:pt x="2733675" y="2257432"/>
                </a:lnTo>
                <a:cubicBezTo>
                  <a:pt x="2733675" y="2320512"/>
                  <a:pt x="2682462" y="2371725"/>
                  <a:pt x="261938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34125" y="1724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6430566" y="18288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20819" y="402"/>
                </a:moveTo>
                <a:cubicBezTo>
                  <a:pt x="115126" y="-1239"/>
                  <a:pt x="109199" y="2076"/>
                  <a:pt x="107558" y="7769"/>
                </a:cubicBezTo>
                <a:lnTo>
                  <a:pt x="64696" y="157788"/>
                </a:lnTo>
                <a:cubicBezTo>
                  <a:pt x="63055" y="163480"/>
                  <a:pt x="66370" y="169407"/>
                  <a:pt x="72063" y="171048"/>
                </a:cubicBezTo>
                <a:cubicBezTo>
                  <a:pt x="77755" y="172689"/>
                  <a:pt x="83682" y="169374"/>
                  <a:pt x="85323" y="163681"/>
                </a:cubicBezTo>
                <a:lnTo>
                  <a:pt x="128186" y="13662"/>
                </a:lnTo>
                <a:cubicBezTo>
                  <a:pt x="129826" y="7970"/>
                  <a:pt x="126511" y="2043"/>
                  <a:pt x="120819" y="402"/>
                </a:cubicBezTo>
                <a:close/>
                <a:moveTo>
                  <a:pt x="142451" y="45977"/>
                </a:moveTo>
                <a:cubicBezTo>
                  <a:pt x="138265" y="50163"/>
                  <a:pt x="138265" y="56960"/>
                  <a:pt x="142451" y="61146"/>
                </a:cubicBezTo>
                <a:lnTo>
                  <a:pt x="167030" y="85725"/>
                </a:lnTo>
                <a:lnTo>
                  <a:pt x="142451" y="110304"/>
                </a:lnTo>
                <a:cubicBezTo>
                  <a:pt x="138265" y="114490"/>
                  <a:pt x="138265" y="121287"/>
                  <a:pt x="142451" y="125473"/>
                </a:cubicBezTo>
                <a:cubicBezTo>
                  <a:pt x="146637" y="129659"/>
                  <a:pt x="153434" y="129659"/>
                  <a:pt x="157620" y="125473"/>
                </a:cubicBezTo>
                <a:lnTo>
                  <a:pt x="189767" y="93326"/>
                </a:lnTo>
                <a:cubicBezTo>
                  <a:pt x="193953" y="89141"/>
                  <a:pt x="193953" y="82343"/>
                  <a:pt x="189767" y="78157"/>
                </a:cubicBezTo>
                <a:lnTo>
                  <a:pt x="157620" y="46010"/>
                </a:lnTo>
                <a:cubicBezTo>
                  <a:pt x="153434" y="41824"/>
                  <a:pt x="146637" y="41824"/>
                  <a:pt x="142451" y="46010"/>
                </a:cubicBezTo>
                <a:close/>
                <a:moveTo>
                  <a:pt x="50464" y="45977"/>
                </a:moveTo>
                <a:cubicBezTo>
                  <a:pt x="46278" y="41791"/>
                  <a:pt x="39480" y="41791"/>
                  <a:pt x="35295" y="45977"/>
                </a:cubicBezTo>
                <a:lnTo>
                  <a:pt x="3148" y="78124"/>
                </a:lnTo>
                <a:cubicBezTo>
                  <a:pt x="-1038" y="82309"/>
                  <a:pt x="-1038" y="89107"/>
                  <a:pt x="3148" y="93293"/>
                </a:cubicBezTo>
                <a:lnTo>
                  <a:pt x="35295" y="125440"/>
                </a:lnTo>
                <a:cubicBezTo>
                  <a:pt x="39480" y="129626"/>
                  <a:pt x="46278" y="129626"/>
                  <a:pt x="50464" y="125440"/>
                </a:cubicBezTo>
                <a:cubicBezTo>
                  <a:pt x="54650" y="121254"/>
                  <a:pt x="54650" y="114456"/>
                  <a:pt x="50464" y="110270"/>
                </a:cubicBezTo>
                <a:lnTo>
                  <a:pt x="25885" y="85725"/>
                </a:lnTo>
                <a:lnTo>
                  <a:pt x="50430" y="61146"/>
                </a:lnTo>
                <a:cubicBezTo>
                  <a:pt x="54616" y="56960"/>
                  <a:pt x="54616" y="50163"/>
                  <a:pt x="50430" y="45977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7" name="Text 15"/>
          <p:cNvSpPr/>
          <p:nvPr/>
        </p:nvSpPr>
        <p:spPr>
          <a:xfrm>
            <a:off x="6334125" y="2219325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Code Now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334125" y="2562225"/>
            <a:ext cx="24860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Adaptive coding assistant with browser based code environment. Chat for understanding , write and run codes in same window. 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072563" y="1566863"/>
            <a:ext cx="2733675" cy="2371725"/>
          </a:xfrm>
          <a:custGeom>
            <a:avLst/>
            <a:gdLst/>
            <a:ahLst/>
            <a:cxnLst/>
            <a:rect l="l" t="t" r="r" b="b"/>
            <a:pathLst>
              <a:path w="2733675" h="2371725">
                <a:moveTo>
                  <a:pt x="114293" y="0"/>
                </a:moveTo>
                <a:lnTo>
                  <a:pt x="2619382" y="0"/>
                </a:lnTo>
                <a:cubicBezTo>
                  <a:pt x="2682462" y="0"/>
                  <a:pt x="2733675" y="51213"/>
                  <a:pt x="2733675" y="114293"/>
                </a:cubicBezTo>
                <a:lnTo>
                  <a:pt x="2733675" y="2257432"/>
                </a:lnTo>
                <a:cubicBezTo>
                  <a:pt x="2733675" y="2320512"/>
                  <a:pt x="2682462" y="2371725"/>
                  <a:pt x="261938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29725" y="17240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326166" y="182880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6073" y="65566"/>
                </a:moveTo>
                <a:lnTo>
                  <a:pt x="86127" y="94398"/>
                </a:lnTo>
                <a:cubicBezTo>
                  <a:pt x="89408" y="95737"/>
                  <a:pt x="92891" y="96441"/>
                  <a:pt x="96441" y="96441"/>
                </a:cubicBezTo>
                <a:cubicBezTo>
                  <a:pt x="99990" y="96441"/>
                  <a:pt x="103473" y="95737"/>
                  <a:pt x="106754" y="94398"/>
                </a:cubicBezTo>
                <a:lnTo>
                  <a:pt x="187925" y="60979"/>
                </a:lnTo>
                <a:cubicBezTo>
                  <a:pt x="190939" y="59740"/>
                  <a:pt x="192881" y="56826"/>
                  <a:pt x="192881" y="53578"/>
                </a:cubicBezTo>
                <a:cubicBezTo>
                  <a:pt x="192881" y="50330"/>
                  <a:pt x="190939" y="47417"/>
                  <a:pt x="187925" y="46178"/>
                </a:cubicBezTo>
                <a:lnTo>
                  <a:pt x="106754" y="12758"/>
                </a:lnTo>
                <a:cubicBezTo>
                  <a:pt x="103473" y="11419"/>
                  <a:pt x="99990" y="10716"/>
                  <a:pt x="96441" y="10716"/>
                </a:cubicBezTo>
                <a:cubicBezTo>
                  <a:pt x="92891" y="10716"/>
                  <a:pt x="89408" y="11419"/>
                  <a:pt x="86127" y="12758"/>
                </a:cubicBezTo>
                <a:lnTo>
                  <a:pt x="4956" y="46178"/>
                </a:lnTo>
                <a:cubicBezTo>
                  <a:pt x="1942" y="47417"/>
                  <a:pt x="0" y="50330"/>
                  <a:pt x="0" y="53578"/>
                </a:cubicBezTo>
                <a:lnTo>
                  <a:pt x="0" y="152698"/>
                </a:lnTo>
                <a:cubicBezTo>
                  <a:pt x="0" y="157151"/>
                  <a:pt x="3583" y="160734"/>
                  <a:pt x="8037" y="160734"/>
                </a:cubicBezTo>
                <a:cubicBezTo>
                  <a:pt x="12490" y="160734"/>
                  <a:pt x="16073" y="157151"/>
                  <a:pt x="16073" y="152698"/>
                </a:cubicBezTo>
                <a:lnTo>
                  <a:pt x="16073" y="65566"/>
                </a:lnTo>
                <a:close/>
                <a:moveTo>
                  <a:pt x="32147" y="89576"/>
                </a:moveTo>
                <a:lnTo>
                  <a:pt x="32147" y="128588"/>
                </a:lnTo>
                <a:cubicBezTo>
                  <a:pt x="32147" y="146335"/>
                  <a:pt x="60945" y="160734"/>
                  <a:pt x="96441" y="160734"/>
                </a:cubicBezTo>
                <a:cubicBezTo>
                  <a:pt x="131936" y="160734"/>
                  <a:pt x="160734" y="146335"/>
                  <a:pt x="160734" y="128588"/>
                </a:cubicBezTo>
                <a:lnTo>
                  <a:pt x="160734" y="89542"/>
                </a:lnTo>
                <a:lnTo>
                  <a:pt x="112882" y="109266"/>
                </a:lnTo>
                <a:cubicBezTo>
                  <a:pt x="107659" y="111409"/>
                  <a:pt x="102100" y="112514"/>
                  <a:pt x="96441" y="112514"/>
                </a:cubicBezTo>
                <a:cubicBezTo>
                  <a:pt x="90781" y="112514"/>
                  <a:pt x="85223" y="111409"/>
                  <a:pt x="79999" y="109266"/>
                </a:cubicBezTo>
                <a:lnTo>
                  <a:pt x="32147" y="89542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Text 20"/>
          <p:cNvSpPr/>
          <p:nvPr/>
        </p:nvSpPr>
        <p:spPr>
          <a:xfrm>
            <a:off x="9229725" y="2219325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Course Designer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229725" y="2562225"/>
            <a:ext cx="24860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your own course they way you like. select duration, course style and browse other user generated courses.  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85763" y="4100513"/>
            <a:ext cx="2733675" cy="2371725"/>
          </a:xfrm>
          <a:custGeom>
            <a:avLst/>
            <a:gdLst/>
            <a:ahLst/>
            <a:cxnLst/>
            <a:rect l="l" t="t" r="r" b="b"/>
            <a:pathLst>
              <a:path w="2733675" h="2371725">
                <a:moveTo>
                  <a:pt x="114293" y="0"/>
                </a:moveTo>
                <a:lnTo>
                  <a:pt x="2619382" y="0"/>
                </a:lnTo>
                <a:cubicBezTo>
                  <a:pt x="2682462" y="0"/>
                  <a:pt x="2733675" y="51213"/>
                  <a:pt x="2733675" y="114293"/>
                </a:cubicBezTo>
                <a:lnTo>
                  <a:pt x="2733675" y="2257432"/>
                </a:lnTo>
                <a:cubicBezTo>
                  <a:pt x="2733675" y="2320512"/>
                  <a:pt x="2682462" y="2371725"/>
                  <a:pt x="261938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42925" y="4257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50081" y="4362450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139303" y="69652"/>
                </a:moveTo>
                <a:cubicBezTo>
                  <a:pt x="139303" y="85022"/>
                  <a:pt x="134314" y="99220"/>
                  <a:pt x="125909" y="110739"/>
                </a:cubicBezTo>
                <a:lnTo>
                  <a:pt x="168302" y="153166"/>
                </a:lnTo>
                <a:cubicBezTo>
                  <a:pt x="172488" y="157352"/>
                  <a:pt x="172488" y="164150"/>
                  <a:pt x="168302" y="168336"/>
                </a:cubicBezTo>
                <a:cubicBezTo>
                  <a:pt x="164116" y="172522"/>
                  <a:pt x="157319" y="172522"/>
                  <a:pt x="153133" y="168336"/>
                </a:cubicBezTo>
                <a:lnTo>
                  <a:pt x="110739" y="125909"/>
                </a:lnTo>
                <a:cubicBezTo>
                  <a:pt x="99220" y="134314"/>
                  <a:pt x="85022" y="139303"/>
                  <a:pt x="69652" y="139303"/>
                </a:cubicBezTo>
                <a:cubicBezTo>
                  <a:pt x="31176" y="139303"/>
                  <a:pt x="0" y="108127"/>
                  <a:pt x="0" y="69652"/>
                </a:cubicBezTo>
                <a:cubicBezTo>
                  <a:pt x="0" y="31176"/>
                  <a:pt x="31176" y="0"/>
                  <a:pt x="69652" y="0"/>
                </a:cubicBezTo>
                <a:cubicBezTo>
                  <a:pt x="108127" y="0"/>
                  <a:pt x="139303" y="31176"/>
                  <a:pt x="139303" y="69652"/>
                </a:cubicBezTo>
                <a:close/>
                <a:moveTo>
                  <a:pt x="69652" y="117872"/>
                </a:moveTo>
                <a:cubicBezTo>
                  <a:pt x="96265" y="117872"/>
                  <a:pt x="117872" y="96265"/>
                  <a:pt x="117872" y="69652"/>
                </a:cubicBezTo>
                <a:cubicBezTo>
                  <a:pt x="117872" y="43038"/>
                  <a:pt x="96265" y="21431"/>
                  <a:pt x="69652" y="21431"/>
                </a:cubicBezTo>
                <a:cubicBezTo>
                  <a:pt x="43038" y="21431"/>
                  <a:pt x="21431" y="43038"/>
                  <a:pt x="21431" y="69652"/>
                </a:cubicBezTo>
                <a:cubicBezTo>
                  <a:pt x="21431" y="96265"/>
                  <a:pt x="43038" y="117872"/>
                  <a:pt x="69652" y="117872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7" name="Text 25"/>
          <p:cNvSpPr/>
          <p:nvPr/>
        </p:nvSpPr>
        <p:spPr>
          <a:xfrm>
            <a:off x="542925" y="4752975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Deep Research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542925" y="5095875"/>
            <a:ext cx="24860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Agent, Chat, Web, PDF, academic papers, and knowledge graphs unified. Publication-ready output.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81363" y="4100513"/>
            <a:ext cx="2733675" cy="2371725"/>
          </a:xfrm>
          <a:custGeom>
            <a:avLst/>
            <a:gdLst/>
            <a:ahLst/>
            <a:cxnLst/>
            <a:rect l="l" t="t" r="r" b="b"/>
            <a:pathLst>
              <a:path w="2733675" h="2371725">
                <a:moveTo>
                  <a:pt x="114293" y="0"/>
                </a:moveTo>
                <a:lnTo>
                  <a:pt x="2619382" y="0"/>
                </a:lnTo>
                <a:cubicBezTo>
                  <a:pt x="2682462" y="0"/>
                  <a:pt x="2733675" y="51213"/>
                  <a:pt x="2733675" y="114293"/>
                </a:cubicBezTo>
                <a:lnTo>
                  <a:pt x="2733675" y="2257432"/>
                </a:lnTo>
                <a:cubicBezTo>
                  <a:pt x="2733675" y="2320512"/>
                  <a:pt x="2682462" y="2371725"/>
                  <a:pt x="261938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438525" y="4257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3534966" y="4362450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32147" y="21431"/>
                </a:moveTo>
                <a:cubicBezTo>
                  <a:pt x="20326" y="21431"/>
                  <a:pt x="10716" y="31042"/>
                  <a:pt x="10716" y="42863"/>
                </a:cubicBezTo>
                <a:lnTo>
                  <a:pt x="10716" y="128588"/>
                </a:lnTo>
                <a:cubicBezTo>
                  <a:pt x="10716" y="140408"/>
                  <a:pt x="20326" y="150019"/>
                  <a:pt x="32147" y="150019"/>
                </a:cubicBezTo>
                <a:lnTo>
                  <a:pt x="117872" y="150019"/>
                </a:lnTo>
                <a:cubicBezTo>
                  <a:pt x="129693" y="150019"/>
                  <a:pt x="139303" y="140408"/>
                  <a:pt x="139303" y="128588"/>
                </a:cubicBezTo>
                <a:lnTo>
                  <a:pt x="139303" y="42863"/>
                </a:lnTo>
                <a:cubicBezTo>
                  <a:pt x="139303" y="31042"/>
                  <a:pt x="129693" y="21431"/>
                  <a:pt x="117872" y="21431"/>
                </a:cubicBezTo>
                <a:lnTo>
                  <a:pt x="32147" y="21431"/>
                </a:lnTo>
                <a:close/>
                <a:moveTo>
                  <a:pt x="155377" y="112514"/>
                </a:moveTo>
                <a:lnTo>
                  <a:pt x="179989" y="132204"/>
                </a:lnTo>
                <a:cubicBezTo>
                  <a:pt x="181395" y="133343"/>
                  <a:pt x="183137" y="133945"/>
                  <a:pt x="184945" y="133945"/>
                </a:cubicBezTo>
                <a:cubicBezTo>
                  <a:pt x="189332" y="133945"/>
                  <a:pt x="192881" y="130396"/>
                  <a:pt x="192881" y="126009"/>
                </a:cubicBezTo>
                <a:lnTo>
                  <a:pt x="192881" y="45441"/>
                </a:lnTo>
                <a:cubicBezTo>
                  <a:pt x="192881" y="41054"/>
                  <a:pt x="189332" y="37505"/>
                  <a:pt x="184945" y="37505"/>
                </a:cubicBezTo>
                <a:cubicBezTo>
                  <a:pt x="183137" y="37505"/>
                  <a:pt x="181395" y="38107"/>
                  <a:pt x="179989" y="39246"/>
                </a:cubicBezTo>
                <a:lnTo>
                  <a:pt x="155377" y="58936"/>
                </a:lnTo>
                <a:lnTo>
                  <a:pt x="155377" y="112514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3438525" y="4752975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Video Summarizer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3438525" y="5095875"/>
            <a:ext cx="24860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Extracts insight from any video. Query plus AI intelligence for better output.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176963" y="4100513"/>
            <a:ext cx="2733675" cy="2371725"/>
          </a:xfrm>
          <a:custGeom>
            <a:avLst/>
            <a:gdLst/>
            <a:ahLst/>
            <a:cxnLst/>
            <a:rect l="l" t="t" r="r" b="b"/>
            <a:pathLst>
              <a:path w="2733675" h="2371725">
                <a:moveTo>
                  <a:pt x="114293" y="0"/>
                </a:moveTo>
                <a:lnTo>
                  <a:pt x="2619382" y="0"/>
                </a:lnTo>
                <a:cubicBezTo>
                  <a:pt x="2682462" y="0"/>
                  <a:pt x="2733675" y="51213"/>
                  <a:pt x="2733675" y="114293"/>
                </a:cubicBezTo>
                <a:lnTo>
                  <a:pt x="2733675" y="2257432"/>
                </a:lnTo>
                <a:cubicBezTo>
                  <a:pt x="2733675" y="2320512"/>
                  <a:pt x="2682462" y="2371725"/>
                  <a:pt x="261938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34125" y="42576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6451997" y="4362450"/>
            <a:ext cx="150019" cy="17145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21431" y="160734"/>
                </a:moveTo>
                <a:cubicBezTo>
                  <a:pt x="9611" y="160734"/>
                  <a:pt x="0" y="151124"/>
                  <a:pt x="0" y="139303"/>
                </a:cubicBezTo>
                <a:lnTo>
                  <a:pt x="0" y="32147"/>
                </a:lnTo>
                <a:cubicBezTo>
                  <a:pt x="0" y="20326"/>
                  <a:pt x="9611" y="10716"/>
                  <a:pt x="21431" y="10716"/>
                </a:cubicBezTo>
                <a:lnTo>
                  <a:pt x="128588" y="10716"/>
                </a:lnTo>
                <a:cubicBezTo>
                  <a:pt x="140408" y="10716"/>
                  <a:pt x="150019" y="20326"/>
                  <a:pt x="150019" y="32147"/>
                </a:cubicBezTo>
                <a:lnTo>
                  <a:pt x="150019" y="103640"/>
                </a:lnTo>
                <a:cubicBezTo>
                  <a:pt x="150019" y="109333"/>
                  <a:pt x="147775" y="114791"/>
                  <a:pt x="143757" y="118809"/>
                </a:cubicBezTo>
                <a:lnTo>
                  <a:pt x="108060" y="154472"/>
                </a:lnTo>
                <a:cubicBezTo>
                  <a:pt x="104042" y="158491"/>
                  <a:pt x="98584" y="160734"/>
                  <a:pt x="92891" y="160734"/>
                </a:cubicBezTo>
                <a:lnTo>
                  <a:pt x="21431" y="160734"/>
                </a:lnTo>
                <a:close/>
                <a:moveTo>
                  <a:pt x="130429" y="101798"/>
                </a:moveTo>
                <a:lnTo>
                  <a:pt x="99120" y="101798"/>
                </a:lnTo>
                <a:cubicBezTo>
                  <a:pt x="94666" y="101798"/>
                  <a:pt x="91083" y="105381"/>
                  <a:pt x="91083" y="109835"/>
                </a:cubicBezTo>
                <a:lnTo>
                  <a:pt x="91083" y="141145"/>
                </a:lnTo>
                <a:lnTo>
                  <a:pt x="130429" y="101798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7" name="Text 35"/>
          <p:cNvSpPr/>
          <p:nvPr/>
        </p:nvSpPr>
        <p:spPr>
          <a:xfrm>
            <a:off x="6334125" y="4752975"/>
            <a:ext cx="25050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My Notes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34125" y="5095875"/>
            <a:ext cx="24860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response, idea, and draft from every tool connected and organised storage.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9072563" y="4100513"/>
            <a:ext cx="2733675" cy="2371725"/>
          </a:xfrm>
          <a:custGeom>
            <a:avLst/>
            <a:gdLst/>
            <a:ahLst/>
            <a:cxnLst/>
            <a:rect l="l" t="t" r="r" b="b"/>
            <a:pathLst>
              <a:path w="2733675" h="2371725">
                <a:moveTo>
                  <a:pt x="114293" y="0"/>
                </a:moveTo>
                <a:lnTo>
                  <a:pt x="2619382" y="0"/>
                </a:lnTo>
                <a:cubicBezTo>
                  <a:pt x="2682462" y="0"/>
                  <a:pt x="2733675" y="51213"/>
                  <a:pt x="2733675" y="114293"/>
                </a:cubicBezTo>
                <a:lnTo>
                  <a:pt x="2733675" y="2257432"/>
                </a:lnTo>
                <a:cubicBezTo>
                  <a:pt x="2733675" y="2320512"/>
                  <a:pt x="2682462" y="2371725"/>
                  <a:pt x="2619382" y="2371725"/>
                </a:cubicBezTo>
                <a:lnTo>
                  <a:pt x="114293" y="2371725"/>
                </a:lnTo>
                <a:cubicBezTo>
                  <a:pt x="51213" y="2371725"/>
                  <a:pt x="0" y="2320512"/>
                  <a:pt x="0" y="2257432"/>
                </a:cubicBezTo>
                <a:lnTo>
                  <a:pt x="0" y="114293"/>
                </a:lnTo>
                <a:cubicBezTo>
                  <a:pt x="0" y="51213"/>
                  <a:pt x="51213" y="0"/>
                  <a:pt x="114293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30000"/>
                </a:srgbClr>
              </a:gs>
              <a:gs pos="100000">
                <a:srgbClr val="6366F1">
                  <a:alpha val="10000"/>
                </a:srgbClr>
              </a:gs>
            </a:gsLst>
            <a:lin ang="2700000" scaled="1"/>
          </a:gradFill>
          <a:ln w="12700">
            <a:solidFill>
              <a:srgbClr val="6366F1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210800" y="46196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1" name="Shape 39"/>
          <p:cNvSpPr/>
          <p:nvPr/>
        </p:nvSpPr>
        <p:spPr>
          <a:xfrm>
            <a:off x="10344150" y="47529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7625" y="119063"/>
                </a:moveTo>
                <a:lnTo>
                  <a:pt x="9116" y="119063"/>
                </a:lnTo>
                <a:cubicBezTo>
                  <a:pt x="-149" y="119063"/>
                  <a:pt x="-5842" y="108979"/>
                  <a:pt x="-1079" y="101017"/>
                </a:cubicBezTo>
                <a:lnTo>
                  <a:pt x="18604" y="68200"/>
                </a:lnTo>
                <a:cubicBezTo>
                  <a:pt x="21841" y="62805"/>
                  <a:pt x="27645" y="59531"/>
                  <a:pt x="33933" y="59531"/>
                </a:cubicBezTo>
                <a:lnTo>
                  <a:pt x="69279" y="59531"/>
                </a:lnTo>
                <a:cubicBezTo>
                  <a:pt x="97594" y="11571"/>
                  <a:pt x="139824" y="9153"/>
                  <a:pt x="168064" y="13283"/>
                </a:cubicBezTo>
                <a:cubicBezTo>
                  <a:pt x="172827" y="13990"/>
                  <a:pt x="176547" y="17711"/>
                  <a:pt x="177217" y="22436"/>
                </a:cubicBezTo>
                <a:cubicBezTo>
                  <a:pt x="181347" y="50676"/>
                  <a:pt x="178929" y="92906"/>
                  <a:pt x="130969" y="121221"/>
                </a:cubicBezTo>
                <a:lnTo>
                  <a:pt x="130969" y="156567"/>
                </a:lnTo>
                <a:cubicBezTo>
                  <a:pt x="130969" y="162855"/>
                  <a:pt x="127695" y="168659"/>
                  <a:pt x="122300" y="171896"/>
                </a:cubicBezTo>
                <a:lnTo>
                  <a:pt x="89483" y="191579"/>
                </a:lnTo>
                <a:cubicBezTo>
                  <a:pt x="81558" y="196342"/>
                  <a:pt x="71438" y="190612"/>
                  <a:pt x="71438" y="181384"/>
                </a:cubicBezTo>
                <a:lnTo>
                  <a:pt x="71438" y="142875"/>
                </a:lnTo>
                <a:cubicBezTo>
                  <a:pt x="71438" y="129741"/>
                  <a:pt x="60759" y="119063"/>
                  <a:pt x="47625" y="119063"/>
                </a:cubicBezTo>
                <a:lnTo>
                  <a:pt x="47588" y="119063"/>
                </a:lnTo>
                <a:close/>
                <a:moveTo>
                  <a:pt x="148828" y="59531"/>
                </a:moveTo>
                <a:cubicBezTo>
                  <a:pt x="148828" y="49674"/>
                  <a:pt x="140826" y="41672"/>
                  <a:pt x="130969" y="41672"/>
                </a:cubicBezTo>
                <a:cubicBezTo>
                  <a:pt x="121112" y="41672"/>
                  <a:pt x="113109" y="49674"/>
                  <a:pt x="113109" y="59531"/>
                </a:cubicBezTo>
                <a:cubicBezTo>
                  <a:pt x="113109" y="69388"/>
                  <a:pt x="121112" y="77391"/>
                  <a:pt x="130969" y="77391"/>
                </a:cubicBezTo>
                <a:cubicBezTo>
                  <a:pt x="140826" y="77391"/>
                  <a:pt x="148828" y="69388"/>
                  <a:pt x="148828" y="59531"/>
                </a:cubicBezTo>
                <a:close/>
              </a:path>
            </a:pathLst>
          </a:cu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9660806" y="5191125"/>
            <a:ext cx="1552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tools built in-house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9760148" y="5457825"/>
            <a:ext cx="13620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tools connected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9688637" y="5724525"/>
            <a:ext cx="1504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All tools personalised</a:t>
            </a:r>
            <a:endParaRPr lang="en-US" sz="1600" dirty="0"/>
          </a:p>
        </p:txBody>
      </p:sp>
      <p:pic>
        <p:nvPicPr>
          <p:cNvPr id="45" name="Image 0" descr="https://kimi-img.moonshot.cn/pub/slides/26-03-17-22:00:32-d6slt03fj2j45vb6nn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0975" y="222541"/>
            <a:ext cx="425159" cy="425159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9758363" y="5953125"/>
            <a:ext cx="156394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More tools each month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12912912" y="2520576"/>
            <a:ext cx="2124967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3405188" y="2486025"/>
            <a:ext cx="2486025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Deploys 4 user Agents with distinct role, to debate, investigate, challenge your problem from every angle.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MOAT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Personalisation Engine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competitor builds it without starting from scratch.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1000" y="15621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601935" y="1676400"/>
            <a:ext cx="2095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109663" y="1566863"/>
            <a:ext cx="10696575" cy="1228725"/>
          </a:xfrm>
          <a:custGeom>
            <a:avLst/>
            <a:gdLst/>
            <a:ahLst/>
            <a:cxnLst/>
            <a:rect l="l" t="t" r="r" b="b"/>
            <a:pathLst>
              <a:path w="10696575" h="1228725">
                <a:moveTo>
                  <a:pt x="114296" y="0"/>
                </a:moveTo>
                <a:lnTo>
                  <a:pt x="10582279" y="0"/>
                </a:lnTo>
                <a:cubicBezTo>
                  <a:pt x="10645403" y="0"/>
                  <a:pt x="10696575" y="51172"/>
                  <a:pt x="10696575" y="114296"/>
                </a:cubicBezTo>
                <a:lnTo>
                  <a:pt x="10696575" y="1114429"/>
                </a:lnTo>
                <a:cubicBezTo>
                  <a:pt x="10696575" y="1177553"/>
                  <a:pt x="10645403" y="1228725"/>
                  <a:pt x="1058227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04925" y="1762125"/>
            <a:ext cx="1040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Benchmark on arrival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04925" y="2105025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12 game-based challenges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on onboarding. Measures processing speed, reasoning patterns, accuracy under pressure, and learning instincts. Maps the user across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 cognitive dimensions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Immediate profile, no survey required.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1000" y="295275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9"/>
          <p:cNvSpPr/>
          <p:nvPr/>
        </p:nvSpPr>
        <p:spPr>
          <a:xfrm>
            <a:off x="581248" y="306705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109663" y="2957513"/>
            <a:ext cx="10696575" cy="1228725"/>
          </a:xfrm>
          <a:custGeom>
            <a:avLst/>
            <a:gdLst/>
            <a:ahLst/>
            <a:cxnLst/>
            <a:rect l="l" t="t" r="r" b="b"/>
            <a:pathLst>
              <a:path w="10696575" h="1228725">
                <a:moveTo>
                  <a:pt x="114296" y="0"/>
                </a:moveTo>
                <a:lnTo>
                  <a:pt x="10582279" y="0"/>
                </a:lnTo>
                <a:cubicBezTo>
                  <a:pt x="10645403" y="0"/>
                  <a:pt x="10696575" y="51172"/>
                  <a:pt x="10696575" y="114296"/>
                </a:cubicBezTo>
                <a:lnTo>
                  <a:pt x="10696575" y="1114429"/>
                </a:lnTo>
                <a:cubicBezTo>
                  <a:pt x="10696575" y="1177553"/>
                  <a:pt x="10645403" y="1228725"/>
                  <a:pt x="1058227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04925" y="3152775"/>
            <a:ext cx="1040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Immediate personalisation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04925" y="3495675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 responds differently to each user — in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depth, structure, pacing, and format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Someone who processes dense information fast gets that. Someone who learns through examples gets that instead. Backend designed per response to generate data points.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1000" y="4343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6" name="Text 14"/>
          <p:cNvSpPr/>
          <p:nvPr/>
        </p:nvSpPr>
        <p:spPr>
          <a:xfrm>
            <a:off x="580206" y="4457700"/>
            <a:ext cx="247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109663" y="4348163"/>
            <a:ext cx="10696575" cy="1228725"/>
          </a:xfrm>
          <a:custGeom>
            <a:avLst/>
            <a:gdLst/>
            <a:ahLst/>
            <a:cxnLst/>
            <a:rect l="l" t="t" r="r" b="b"/>
            <a:pathLst>
              <a:path w="10696575" h="1228725">
                <a:moveTo>
                  <a:pt x="114296" y="0"/>
                </a:moveTo>
                <a:lnTo>
                  <a:pt x="10582279" y="0"/>
                </a:lnTo>
                <a:cubicBezTo>
                  <a:pt x="10645403" y="0"/>
                  <a:pt x="10696575" y="51172"/>
                  <a:pt x="10696575" y="114296"/>
                </a:cubicBezTo>
                <a:lnTo>
                  <a:pt x="10696575" y="1114429"/>
                </a:lnTo>
                <a:cubicBezTo>
                  <a:pt x="10696575" y="1177553"/>
                  <a:pt x="10645403" y="1228725"/>
                  <a:pt x="10582279" y="1228725"/>
                </a:cubicBezTo>
                <a:lnTo>
                  <a:pt x="114296" y="1228725"/>
                </a:lnTo>
                <a:cubicBezTo>
                  <a:pt x="51172" y="1228725"/>
                  <a:pt x="0" y="1177553"/>
                  <a:pt x="0" y="1114429"/>
                </a:cubicBezTo>
                <a:lnTo>
                  <a:pt x="0" y="114296"/>
                </a:lnTo>
                <a:cubicBezTo>
                  <a:pt x="0" y="51172"/>
                  <a:pt x="51172" y="0"/>
                  <a:pt x="114296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04925" y="4543425"/>
            <a:ext cx="10401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Continuous refinement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304925" y="4886325"/>
            <a:ext cx="103822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tool interaction adds signal — chat patterns, research behaviour, course navigation, note structure. Over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60–90 days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 richer learner model is built. After 2–3 months of data, full cross-tool personalisation activates.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00050" y="5734050"/>
            <a:ext cx="11410950" cy="800100"/>
          </a:xfrm>
          <a:custGeom>
            <a:avLst/>
            <a:gdLst/>
            <a:ahLst/>
            <a:cxnLst/>
            <a:rect l="l" t="t" r="r" b="b"/>
            <a:pathLst>
              <a:path w="11410950" h="800100">
                <a:moveTo>
                  <a:pt x="0" y="0"/>
                </a:moveTo>
                <a:lnTo>
                  <a:pt x="11296648" y="0"/>
                </a:lnTo>
                <a:cubicBezTo>
                  <a:pt x="11359733" y="0"/>
                  <a:pt x="11410950" y="51217"/>
                  <a:pt x="11410950" y="114302"/>
                </a:cubicBezTo>
                <a:lnTo>
                  <a:pt x="11410950" y="685798"/>
                </a:lnTo>
                <a:cubicBezTo>
                  <a:pt x="11410950" y="748883"/>
                  <a:pt x="11359733" y="800100"/>
                  <a:pt x="11296648" y="800100"/>
                </a:cubicBez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21" name="Shape 19"/>
          <p:cNvSpPr/>
          <p:nvPr/>
        </p:nvSpPr>
        <p:spPr>
          <a:xfrm>
            <a:off x="400050" y="573405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2" name="Shape 20"/>
          <p:cNvSpPr/>
          <p:nvPr/>
        </p:nvSpPr>
        <p:spPr>
          <a:xfrm>
            <a:off x="600075" y="593407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819150" y="5886450"/>
            <a:ext cx="10915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lake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built from user behaviour is a compounding asset. It gets more valuable with every user, every session, every month — and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cannot be replicated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by a competitor switching on a personalisation feature overnight.</a:t>
            </a:r>
            <a:endParaRPr lang="en-US" sz="1600" dirty="0"/>
          </a:p>
        </p:txBody>
      </p:sp>
      <p:pic>
        <p:nvPicPr>
          <p:cNvPr id="24" name="Image 0" descr="https://kimi-img.moonshot.cn/pub/slides/26-03-17-22:00:32-d6slt03fj2j45vb6nn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0975" y="222541"/>
            <a:ext cx="425159" cy="42515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COMPETITION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competition owns one tool each.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Verbll owns the layer underneath all of them.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566863"/>
            <a:ext cx="3676650" cy="3952875"/>
          </a:xfrm>
          <a:custGeom>
            <a:avLst/>
            <a:gdLst/>
            <a:ahLst/>
            <a:cxnLst/>
            <a:rect l="l" t="t" r="r" b="b"/>
            <a:pathLst>
              <a:path w="3676650" h="395287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3838568"/>
                </a:lnTo>
                <a:cubicBezTo>
                  <a:pt x="3676650" y="3901698"/>
                  <a:pt x="3625473" y="3952875"/>
                  <a:pt x="3562343" y="3952875"/>
                </a:cubicBezTo>
                <a:lnTo>
                  <a:pt x="114307" y="3952875"/>
                </a:lnTo>
                <a:cubicBezTo>
                  <a:pt x="51177" y="3952875"/>
                  <a:pt x="0" y="3901698"/>
                  <a:pt x="0" y="38385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762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04850" y="1876425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14300" y="152400"/>
                </a:moveTo>
                <a:lnTo>
                  <a:pt x="28575" y="152400"/>
                </a:lnTo>
                <a:cubicBezTo>
                  <a:pt x="12799" y="152400"/>
                  <a:pt x="0" y="139601"/>
                  <a:pt x="0" y="123825"/>
                </a:cubicBezTo>
                <a:lnTo>
                  <a:pt x="0" y="28575"/>
                </a:lnTo>
                <a:cubicBezTo>
                  <a:pt x="0" y="12799"/>
                  <a:pt x="12799" y="0"/>
                  <a:pt x="28575" y="0"/>
                </a:cubicBezTo>
                <a:lnTo>
                  <a:pt x="119062" y="0"/>
                </a:lnTo>
                <a:cubicBezTo>
                  <a:pt x="126950" y="0"/>
                  <a:pt x="133350" y="6400"/>
                  <a:pt x="133350" y="14288"/>
                </a:cubicBezTo>
                <a:lnTo>
                  <a:pt x="133350" y="100013"/>
                </a:lnTo>
                <a:cubicBezTo>
                  <a:pt x="133350" y="106234"/>
                  <a:pt x="129361" y="111532"/>
                  <a:pt x="123825" y="113496"/>
                </a:cubicBezTo>
                <a:lnTo>
                  <a:pt x="123825" y="133350"/>
                </a:lnTo>
                <a:cubicBezTo>
                  <a:pt x="129094" y="133350"/>
                  <a:pt x="133350" y="137606"/>
                  <a:pt x="133350" y="142875"/>
                </a:cubicBezTo>
                <a:cubicBezTo>
                  <a:pt x="133350" y="148144"/>
                  <a:pt x="129094" y="152400"/>
                  <a:pt x="123825" y="152400"/>
                </a:cubicBezTo>
                <a:lnTo>
                  <a:pt x="114300" y="152400"/>
                </a:lnTo>
                <a:close/>
                <a:moveTo>
                  <a:pt x="28575" y="114300"/>
                </a:moveTo>
                <a:cubicBezTo>
                  <a:pt x="23306" y="114300"/>
                  <a:pt x="19050" y="118556"/>
                  <a:pt x="19050" y="123825"/>
                </a:cubicBezTo>
                <a:cubicBezTo>
                  <a:pt x="19050" y="129094"/>
                  <a:pt x="23306" y="133350"/>
                  <a:pt x="28575" y="133350"/>
                </a:cubicBezTo>
                <a:lnTo>
                  <a:pt x="104775" y="133350"/>
                </a:lnTo>
                <a:lnTo>
                  <a:pt x="104775" y="114300"/>
                </a:lnTo>
                <a:lnTo>
                  <a:pt x="28575" y="114300"/>
                </a:lnTo>
                <a:close/>
                <a:moveTo>
                  <a:pt x="38100" y="45244"/>
                </a:moveTo>
                <a:cubicBezTo>
                  <a:pt x="38100" y="49203"/>
                  <a:pt x="41285" y="52388"/>
                  <a:pt x="45244" y="52388"/>
                </a:cubicBezTo>
                <a:lnTo>
                  <a:pt x="97631" y="52388"/>
                </a:lnTo>
                <a:cubicBezTo>
                  <a:pt x="101590" y="52388"/>
                  <a:pt x="104775" y="49203"/>
                  <a:pt x="104775" y="45244"/>
                </a:cubicBezTo>
                <a:cubicBezTo>
                  <a:pt x="104775" y="41285"/>
                  <a:pt x="101590" y="38100"/>
                  <a:pt x="97631" y="38100"/>
                </a:cubicBezTo>
                <a:lnTo>
                  <a:pt x="45244" y="38100"/>
                </a:lnTo>
                <a:cubicBezTo>
                  <a:pt x="41285" y="38100"/>
                  <a:pt x="38100" y="41285"/>
                  <a:pt x="38100" y="45244"/>
                </a:cubicBezTo>
                <a:close/>
                <a:moveTo>
                  <a:pt x="45244" y="66675"/>
                </a:moveTo>
                <a:cubicBezTo>
                  <a:pt x="41285" y="66675"/>
                  <a:pt x="38100" y="69860"/>
                  <a:pt x="38100" y="73819"/>
                </a:cubicBezTo>
                <a:cubicBezTo>
                  <a:pt x="38100" y="77778"/>
                  <a:pt x="41285" y="80962"/>
                  <a:pt x="45244" y="80962"/>
                </a:cubicBezTo>
                <a:lnTo>
                  <a:pt x="97631" y="80962"/>
                </a:lnTo>
                <a:cubicBezTo>
                  <a:pt x="101590" y="80962"/>
                  <a:pt x="104775" y="77778"/>
                  <a:pt x="104775" y="73819"/>
                </a:cubicBezTo>
                <a:cubicBezTo>
                  <a:pt x="104775" y="69860"/>
                  <a:pt x="101590" y="66675"/>
                  <a:pt x="97631" y="66675"/>
                </a:cubicBezTo>
                <a:lnTo>
                  <a:pt x="45244" y="66675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1819275"/>
            <a:ext cx="1914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Khan Academy / BYJU'S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295525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Content platforms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09600" y="26384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1" name="Text 9"/>
          <p:cNvSpPr/>
          <p:nvPr/>
        </p:nvSpPr>
        <p:spPr>
          <a:xfrm>
            <a:off x="800100" y="2600325"/>
            <a:ext cx="12287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Pre-built curriculum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9600" y="29051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800100" y="2867025"/>
            <a:ext cx="885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Static content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09600" y="31718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5" name="Text 13"/>
          <p:cNvSpPr/>
          <p:nvPr/>
        </p:nvSpPr>
        <p:spPr>
          <a:xfrm>
            <a:off x="800100" y="3133725"/>
            <a:ext cx="1733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AI personalisation engine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09600" y="34385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800100" y="3400425"/>
            <a:ext cx="15716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cross-tool intelligence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09600" y="37052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19" name="Text 17"/>
          <p:cNvSpPr/>
          <p:nvPr/>
        </p:nvSpPr>
        <p:spPr>
          <a:xfrm>
            <a:off x="800100" y="3667125"/>
            <a:ext cx="7524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memory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81025" y="4976813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  <a:lnTo>
                  <a:pt x="3286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21" name="Shape 19"/>
          <p:cNvSpPr/>
          <p:nvPr/>
        </p:nvSpPr>
        <p:spPr>
          <a:xfrm>
            <a:off x="608409" y="5162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2" name="Text 20"/>
          <p:cNvSpPr/>
          <p:nvPr/>
        </p:nvSpPr>
        <p:spPr>
          <a:xfrm>
            <a:off x="781050" y="5133975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Verbll adapts to the learner in real time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259238" y="1566863"/>
            <a:ext cx="3676650" cy="3952875"/>
          </a:xfrm>
          <a:custGeom>
            <a:avLst/>
            <a:gdLst/>
            <a:ahLst/>
            <a:cxnLst/>
            <a:rect l="l" t="t" r="r" b="b"/>
            <a:pathLst>
              <a:path w="3676650" h="395287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3838568"/>
                </a:lnTo>
                <a:cubicBezTo>
                  <a:pt x="3676650" y="3901698"/>
                  <a:pt x="3625473" y="3952875"/>
                  <a:pt x="3562343" y="3952875"/>
                </a:cubicBezTo>
                <a:lnTo>
                  <a:pt x="114307" y="3952875"/>
                </a:lnTo>
                <a:cubicBezTo>
                  <a:pt x="51177" y="3952875"/>
                  <a:pt x="0" y="3901698"/>
                  <a:pt x="0" y="38385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54500" y="1762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4587850" y="1876425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0" y="19050"/>
                </a:moveTo>
                <a:cubicBezTo>
                  <a:pt x="0" y="8543"/>
                  <a:pt x="8543" y="0"/>
                  <a:pt x="19050" y="0"/>
                </a:cubicBezTo>
                <a:lnTo>
                  <a:pt x="63550" y="0"/>
                </a:lnTo>
                <a:cubicBezTo>
                  <a:pt x="68610" y="0"/>
                  <a:pt x="73462" y="1994"/>
                  <a:pt x="77033" y="5566"/>
                </a:cubicBezTo>
                <a:lnTo>
                  <a:pt x="108734" y="37296"/>
                </a:lnTo>
                <a:cubicBezTo>
                  <a:pt x="112306" y="40868"/>
                  <a:pt x="114300" y="45720"/>
                  <a:pt x="114300" y="50780"/>
                </a:cubicBezTo>
                <a:lnTo>
                  <a:pt x="114300" y="133350"/>
                </a:lnTo>
                <a:cubicBezTo>
                  <a:pt x="114300" y="143857"/>
                  <a:pt x="105757" y="152400"/>
                  <a:pt x="9525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19050"/>
                </a:lnTo>
                <a:close/>
                <a:moveTo>
                  <a:pt x="61912" y="17413"/>
                </a:moveTo>
                <a:lnTo>
                  <a:pt x="61912" y="45244"/>
                </a:lnTo>
                <a:cubicBezTo>
                  <a:pt x="61912" y="49203"/>
                  <a:pt x="65097" y="52388"/>
                  <a:pt x="69056" y="52388"/>
                </a:cubicBezTo>
                <a:lnTo>
                  <a:pt x="96887" y="52388"/>
                </a:lnTo>
                <a:lnTo>
                  <a:pt x="61912" y="17413"/>
                </a:lnTo>
                <a:close/>
                <a:moveTo>
                  <a:pt x="35719" y="76200"/>
                </a:moveTo>
                <a:cubicBezTo>
                  <a:pt x="31760" y="76200"/>
                  <a:pt x="28575" y="79385"/>
                  <a:pt x="28575" y="83344"/>
                </a:cubicBezTo>
                <a:cubicBezTo>
                  <a:pt x="28575" y="87303"/>
                  <a:pt x="31760" y="90488"/>
                  <a:pt x="35719" y="90488"/>
                </a:cubicBezTo>
                <a:lnTo>
                  <a:pt x="78581" y="90488"/>
                </a:lnTo>
                <a:cubicBezTo>
                  <a:pt x="82540" y="90488"/>
                  <a:pt x="85725" y="87303"/>
                  <a:pt x="85725" y="83344"/>
                </a:cubicBezTo>
                <a:cubicBezTo>
                  <a:pt x="85725" y="79385"/>
                  <a:pt x="82540" y="76200"/>
                  <a:pt x="78581" y="76200"/>
                </a:cubicBezTo>
                <a:lnTo>
                  <a:pt x="35719" y="76200"/>
                </a:lnTo>
                <a:close/>
                <a:moveTo>
                  <a:pt x="35719" y="104775"/>
                </a:moveTo>
                <a:cubicBezTo>
                  <a:pt x="31760" y="104775"/>
                  <a:pt x="28575" y="107960"/>
                  <a:pt x="28575" y="111919"/>
                </a:cubicBezTo>
                <a:cubicBezTo>
                  <a:pt x="28575" y="115878"/>
                  <a:pt x="31760" y="119062"/>
                  <a:pt x="35719" y="119062"/>
                </a:cubicBezTo>
                <a:lnTo>
                  <a:pt x="78581" y="119062"/>
                </a:lnTo>
                <a:cubicBezTo>
                  <a:pt x="82540" y="119062"/>
                  <a:pt x="85725" y="115878"/>
                  <a:pt x="85725" y="111919"/>
                </a:cubicBezTo>
                <a:cubicBezTo>
                  <a:pt x="85725" y="107960"/>
                  <a:pt x="82540" y="104775"/>
                  <a:pt x="78581" y="104775"/>
                </a:cubicBezTo>
                <a:lnTo>
                  <a:pt x="35719" y="104775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4949800" y="1819275"/>
            <a:ext cx="1657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Google NotebookLM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454500" y="2295525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Single-tool AI research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475931" y="26384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9" name="Text 27"/>
          <p:cNvSpPr/>
          <p:nvPr/>
        </p:nvSpPr>
        <p:spPr>
          <a:xfrm>
            <a:off x="4673575" y="2600325"/>
            <a:ext cx="18669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Excellent at document analysis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483075" y="29051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1" name="Text 29"/>
          <p:cNvSpPr/>
          <p:nvPr/>
        </p:nvSpPr>
        <p:spPr>
          <a:xfrm>
            <a:off x="4673575" y="2867025"/>
            <a:ext cx="13716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One tool, one use case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483075" y="31718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4673575" y="3133725"/>
            <a:ext cx="9239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benchmark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483075" y="34385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5" name="Text 33"/>
          <p:cNvSpPr/>
          <p:nvPr/>
        </p:nvSpPr>
        <p:spPr>
          <a:xfrm>
            <a:off x="4673575" y="3400425"/>
            <a:ext cx="1076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learner profile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483075" y="37052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37" name="Text 35"/>
          <p:cNvSpPr/>
          <p:nvPr/>
        </p:nvSpPr>
        <p:spPr>
          <a:xfrm>
            <a:off x="4673575" y="3667125"/>
            <a:ext cx="15621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connected workspace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54500" y="4976813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  <a:lnTo>
                  <a:pt x="3286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39" name="Shape 37"/>
          <p:cNvSpPr/>
          <p:nvPr/>
        </p:nvSpPr>
        <p:spPr>
          <a:xfrm>
            <a:off x="4481885" y="5162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0" name="Text 38"/>
          <p:cNvSpPr/>
          <p:nvPr/>
        </p:nvSpPr>
        <p:spPr>
          <a:xfrm>
            <a:off x="4645000" y="5162550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Verbll provides multiple enhanced tools and access to various AI models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8132713" y="1566863"/>
            <a:ext cx="3676650" cy="3952875"/>
          </a:xfrm>
          <a:custGeom>
            <a:avLst/>
            <a:gdLst/>
            <a:ahLst/>
            <a:cxnLst/>
            <a:rect l="l" t="t" r="r" b="b"/>
            <a:pathLst>
              <a:path w="3676650" h="395287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3838568"/>
                </a:lnTo>
                <a:cubicBezTo>
                  <a:pt x="3676650" y="3901698"/>
                  <a:pt x="3625473" y="3952875"/>
                  <a:pt x="3562343" y="3952875"/>
                </a:cubicBezTo>
                <a:lnTo>
                  <a:pt x="114307" y="3952875"/>
                </a:lnTo>
                <a:cubicBezTo>
                  <a:pt x="51177" y="3952875"/>
                  <a:pt x="0" y="3901698"/>
                  <a:pt x="0" y="38385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327975" y="1762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EF4444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8423225" y="1876425"/>
            <a:ext cx="190500" cy="152400"/>
          </a:xfrm>
          <a:custGeom>
            <a:avLst/>
            <a:gdLst/>
            <a:ahLst/>
            <a:cxnLst/>
            <a:rect l="l" t="t" r="r" b="b"/>
            <a:pathLst>
              <a:path w="190500" h="152400">
                <a:moveTo>
                  <a:pt x="104775" y="0"/>
                </a:moveTo>
                <a:cubicBezTo>
                  <a:pt x="104775" y="-5269"/>
                  <a:pt x="100519" y="-9525"/>
                  <a:pt x="95250" y="-9525"/>
                </a:cubicBezTo>
                <a:cubicBezTo>
                  <a:pt x="89981" y="-9525"/>
                  <a:pt x="85725" y="-5269"/>
                  <a:pt x="85725" y="0"/>
                </a:cubicBezTo>
                <a:lnTo>
                  <a:pt x="85725" y="19050"/>
                </a:lnTo>
                <a:lnTo>
                  <a:pt x="57150" y="19050"/>
                </a:lnTo>
                <a:cubicBezTo>
                  <a:pt x="41374" y="19050"/>
                  <a:pt x="28575" y="31849"/>
                  <a:pt x="28575" y="47625"/>
                </a:cubicBezTo>
                <a:lnTo>
                  <a:pt x="28575" y="114300"/>
                </a:lnTo>
                <a:cubicBezTo>
                  <a:pt x="28575" y="130076"/>
                  <a:pt x="41374" y="142875"/>
                  <a:pt x="57150" y="142875"/>
                </a:cubicBezTo>
                <a:lnTo>
                  <a:pt x="133350" y="142875"/>
                </a:lnTo>
                <a:cubicBezTo>
                  <a:pt x="149126" y="142875"/>
                  <a:pt x="161925" y="130076"/>
                  <a:pt x="161925" y="114300"/>
                </a:cubicBezTo>
                <a:lnTo>
                  <a:pt x="161925" y="47625"/>
                </a:lnTo>
                <a:cubicBezTo>
                  <a:pt x="161925" y="31849"/>
                  <a:pt x="149126" y="19050"/>
                  <a:pt x="133350" y="19050"/>
                </a:cubicBezTo>
                <a:lnTo>
                  <a:pt x="104775" y="19050"/>
                </a:lnTo>
                <a:lnTo>
                  <a:pt x="104775" y="0"/>
                </a:lnTo>
                <a:close/>
                <a:moveTo>
                  <a:pt x="47625" y="109537"/>
                </a:moveTo>
                <a:cubicBezTo>
                  <a:pt x="47625" y="105579"/>
                  <a:pt x="50810" y="102394"/>
                  <a:pt x="54769" y="102394"/>
                </a:cubicBezTo>
                <a:lnTo>
                  <a:pt x="64294" y="102394"/>
                </a:lnTo>
                <a:cubicBezTo>
                  <a:pt x="68253" y="102394"/>
                  <a:pt x="71438" y="105579"/>
                  <a:pt x="71438" y="109537"/>
                </a:cubicBezTo>
                <a:cubicBezTo>
                  <a:pt x="71438" y="113496"/>
                  <a:pt x="68253" y="116681"/>
                  <a:pt x="64294" y="116681"/>
                </a:cubicBezTo>
                <a:lnTo>
                  <a:pt x="54769" y="116681"/>
                </a:lnTo>
                <a:cubicBezTo>
                  <a:pt x="50810" y="116681"/>
                  <a:pt x="47625" y="113496"/>
                  <a:pt x="47625" y="109537"/>
                </a:cubicBezTo>
                <a:close/>
                <a:moveTo>
                  <a:pt x="83344" y="109537"/>
                </a:moveTo>
                <a:cubicBezTo>
                  <a:pt x="83344" y="105579"/>
                  <a:pt x="86529" y="102394"/>
                  <a:pt x="90488" y="102394"/>
                </a:cubicBezTo>
                <a:lnTo>
                  <a:pt x="100013" y="102394"/>
                </a:lnTo>
                <a:cubicBezTo>
                  <a:pt x="103971" y="102394"/>
                  <a:pt x="107156" y="105579"/>
                  <a:pt x="107156" y="109537"/>
                </a:cubicBezTo>
                <a:cubicBezTo>
                  <a:pt x="107156" y="113496"/>
                  <a:pt x="103971" y="116681"/>
                  <a:pt x="100013" y="116681"/>
                </a:cubicBezTo>
                <a:lnTo>
                  <a:pt x="90488" y="116681"/>
                </a:lnTo>
                <a:cubicBezTo>
                  <a:pt x="86529" y="116681"/>
                  <a:pt x="83344" y="113496"/>
                  <a:pt x="83344" y="109537"/>
                </a:cubicBezTo>
                <a:close/>
                <a:moveTo>
                  <a:pt x="119062" y="109537"/>
                </a:moveTo>
                <a:cubicBezTo>
                  <a:pt x="119062" y="105579"/>
                  <a:pt x="122247" y="102394"/>
                  <a:pt x="126206" y="102394"/>
                </a:cubicBezTo>
                <a:lnTo>
                  <a:pt x="135731" y="102394"/>
                </a:lnTo>
                <a:cubicBezTo>
                  <a:pt x="139690" y="102394"/>
                  <a:pt x="142875" y="105579"/>
                  <a:pt x="142875" y="109537"/>
                </a:cubicBezTo>
                <a:cubicBezTo>
                  <a:pt x="142875" y="113496"/>
                  <a:pt x="139690" y="116681"/>
                  <a:pt x="135731" y="116681"/>
                </a:cubicBezTo>
                <a:lnTo>
                  <a:pt x="126206" y="116681"/>
                </a:lnTo>
                <a:cubicBezTo>
                  <a:pt x="122247" y="116681"/>
                  <a:pt x="119062" y="113496"/>
                  <a:pt x="119062" y="109537"/>
                </a:cubicBezTo>
                <a:close/>
                <a:moveTo>
                  <a:pt x="66675" y="52388"/>
                </a:moveTo>
                <a:cubicBezTo>
                  <a:pt x="74560" y="52388"/>
                  <a:pt x="80962" y="58790"/>
                  <a:pt x="80962" y="66675"/>
                </a:cubicBezTo>
                <a:cubicBezTo>
                  <a:pt x="80962" y="74560"/>
                  <a:pt x="74560" y="80962"/>
                  <a:pt x="66675" y="80962"/>
                </a:cubicBezTo>
                <a:cubicBezTo>
                  <a:pt x="58790" y="80962"/>
                  <a:pt x="52388" y="74560"/>
                  <a:pt x="52388" y="66675"/>
                </a:cubicBezTo>
                <a:cubicBezTo>
                  <a:pt x="52388" y="58790"/>
                  <a:pt x="58790" y="52388"/>
                  <a:pt x="66675" y="52388"/>
                </a:cubicBezTo>
                <a:close/>
                <a:moveTo>
                  <a:pt x="109537" y="66675"/>
                </a:moveTo>
                <a:cubicBezTo>
                  <a:pt x="109537" y="58790"/>
                  <a:pt x="115940" y="52388"/>
                  <a:pt x="123825" y="52388"/>
                </a:cubicBezTo>
                <a:cubicBezTo>
                  <a:pt x="131710" y="52388"/>
                  <a:pt x="138113" y="58790"/>
                  <a:pt x="138113" y="66675"/>
                </a:cubicBezTo>
                <a:cubicBezTo>
                  <a:pt x="138113" y="74560"/>
                  <a:pt x="131710" y="80962"/>
                  <a:pt x="123825" y="80962"/>
                </a:cubicBezTo>
                <a:cubicBezTo>
                  <a:pt x="115940" y="80962"/>
                  <a:pt x="109537" y="74560"/>
                  <a:pt x="109537" y="66675"/>
                </a:cubicBezTo>
                <a:close/>
                <a:moveTo>
                  <a:pt x="19050" y="66675"/>
                </a:moveTo>
                <a:cubicBezTo>
                  <a:pt x="19050" y="61406"/>
                  <a:pt x="14794" y="57150"/>
                  <a:pt x="9525" y="57150"/>
                </a:cubicBezTo>
                <a:cubicBezTo>
                  <a:pt x="4256" y="57150"/>
                  <a:pt x="0" y="61406"/>
                  <a:pt x="0" y="66675"/>
                </a:cubicBezTo>
                <a:lnTo>
                  <a:pt x="0" y="95250"/>
                </a:lnTo>
                <a:cubicBezTo>
                  <a:pt x="0" y="100519"/>
                  <a:pt x="4256" y="104775"/>
                  <a:pt x="9525" y="104775"/>
                </a:cubicBezTo>
                <a:cubicBezTo>
                  <a:pt x="14794" y="104775"/>
                  <a:pt x="19050" y="100519"/>
                  <a:pt x="19050" y="95250"/>
                </a:cubicBezTo>
                <a:lnTo>
                  <a:pt x="19050" y="66675"/>
                </a:lnTo>
                <a:close/>
                <a:moveTo>
                  <a:pt x="180975" y="57150"/>
                </a:moveTo>
                <a:cubicBezTo>
                  <a:pt x="175706" y="57150"/>
                  <a:pt x="171450" y="61406"/>
                  <a:pt x="171450" y="66675"/>
                </a:cubicBezTo>
                <a:lnTo>
                  <a:pt x="171450" y="95250"/>
                </a:lnTo>
                <a:cubicBezTo>
                  <a:pt x="171450" y="100519"/>
                  <a:pt x="175706" y="104775"/>
                  <a:pt x="180975" y="104775"/>
                </a:cubicBezTo>
                <a:cubicBezTo>
                  <a:pt x="186244" y="104775"/>
                  <a:pt x="190500" y="100519"/>
                  <a:pt x="190500" y="95250"/>
                </a:cubicBezTo>
                <a:lnTo>
                  <a:pt x="190500" y="66675"/>
                </a:lnTo>
                <a:cubicBezTo>
                  <a:pt x="190500" y="61406"/>
                  <a:pt x="186244" y="57150"/>
                  <a:pt x="180975" y="57150"/>
                </a:cubicBez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4" name="Text 42"/>
          <p:cNvSpPr/>
          <p:nvPr/>
        </p:nvSpPr>
        <p:spPr>
          <a:xfrm>
            <a:off x="8823275" y="1819275"/>
            <a:ext cx="16764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ChatGPT / General AI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8327975" y="2295525"/>
            <a:ext cx="33528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Powerful but generic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8349407" y="2638425"/>
            <a:ext cx="100013" cy="114300"/>
          </a:xfrm>
          <a:custGeom>
            <a:avLst/>
            <a:gdLst/>
            <a:ahLst/>
            <a:cxnLst/>
            <a:rect l="l" t="t" r="r" b="b"/>
            <a:pathLst>
              <a:path w="100013" h="114300">
                <a:moveTo>
                  <a:pt x="97066" y="15649"/>
                </a:moveTo>
                <a:cubicBezTo>
                  <a:pt x="100258" y="17971"/>
                  <a:pt x="100972" y="22436"/>
                  <a:pt x="98651" y="25628"/>
                </a:cubicBezTo>
                <a:lnTo>
                  <a:pt x="41501" y="104209"/>
                </a:lnTo>
                <a:cubicBezTo>
                  <a:pt x="40273" y="105906"/>
                  <a:pt x="38375" y="106955"/>
                  <a:pt x="36277" y="107134"/>
                </a:cubicBezTo>
                <a:cubicBezTo>
                  <a:pt x="34178" y="107313"/>
                  <a:pt x="32147" y="106531"/>
                  <a:pt x="30673" y="105058"/>
                </a:cubicBezTo>
                <a:lnTo>
                  <a:pt x="2098" y="76483"/>
                </a:lnTo>
                <a:cubicBezTo>
                  <a:pt x="-692" y="73692"/>
                  <a:pt x="-692" y="69160"/>
                  <a:pt x="2098" y="66370"/>
                </a:cubicBezTo>
                <a:cubicBezTo>
                  <a:pt x="4889" y="63579"/>
                  <a:pt x="9421" y="63579"/>
                  <a:pt x="12211" y="66370"/>
                </a:cubicBezTo>
                <a:lnTo>
                  <a:pt x="34870" y="89029"/>
                </a:lnTo>
                <a:lnTo>
                  <a:pt x="87109" y="17212"/>
                </a:lnTo>
                <a:cubicBezTo>
                  <a:pt x="89431" y="14020"/>
                  <a:pt x="93896" y="13305"/>
                  <a:pt x="97088" y="1562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47" name="Text 45"/>
          <p:cNvSpPr/>
          <p:nvPr/>
        </p:nvSpPr>
        <p:spPr>
          <a:xfrm>
            <a:off x="8547050" y="2600325"/>
            <a:ext cx="1285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Powerful capabilities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56550" y="29051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49" name="Text 47"/>
          <p:cNvSpPr/>
          <p:nvPr/>
        </p:nvSpPr>
        <p:spPr>
          <a:xfrm>
            <a:off x="8547050" y="2867025"/>
            <a:ext cx="18859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user gets same response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8356550" y="31718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1" name="Text 49"/>
          <p:cNvSpPr/>
          <p:nvPr/>
        </p:nvSpPr>
        <p:spPr>
          <a:xfrm>
            <a:off x="8547050" y="3133725"/>
            <a:ext cx="1619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onboarding benchmark</a:t>
            </a: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8356550" y="34385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3" name="Text 51"/>
          <p:cNvSpPr/>
          <p:nvPr/>
        </p:nvSpPr>
        <p:spPr>
          <a:xfrm>
            <a:off x="8547050" y="3400425"/>
            <a:ext cx="16954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persistent learner profile</a:t>
            </a: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8356550" y="3705225"/>
            <a:ext cx="85725" cy="114300"/>
          </a:xfrm>
          <a:custGeom>
            <a:avLst/>
            <a:gdLst/>
            <a:ahLst/>
            <a:cxnLst/>
            <a:rect l="l" t="t" r="r" b="b"/>
            <a:pathLst>
              <a:path w="85725" h="114300">
                <a:moveTo>
                  <a:pt x="12301" y="16386"/>
                </a:moveTo>
                <a:cubicBezTo>
                  <a:pt x="9510" y="13595"/>
                  <a:pt x="4978" y="13595"/>
                  <a:pt x="2188" y="16386"/>
                </a:cubicBezTo>
                <a:cubicBezTo>
                  <a:pt x="-603" y="19177"/>
                  <a:pt x="-603" y="23708"/>
                  <a:pt x="2188" y="26499"/>
                </a:cubicBezTo>
                <a:lnTo>
                  <a:pt x="32861" y="57150"/>
                </a:lnTo>
                <a:lnTo>
                  <a:pt x="2210" y="87823"/>
                </a:lnTo>
                <a:cubicBezTo>
                  <a:pt x="-580" y="90614"/>
                  <a:pt x="-580" y="95146"/>
                  <a:pt x="2210" y="97936"/>
                </a:cubicBezTo>
                <a:cubicBezTo>
                  <a:pt x="5001" y="100727"/>
                  <a:pt x="9532" y="100727"/>
                  <a:pt x="12323" y="97936"/>
                </a:cubicBezTo>
                <a:lnTo>
                  <a:pt x="42974" y="67263"/>
                </a:lnTo>
                <a:lnTo>
                  <a:pt x="73648" y="97914"/>
                </a:lnTo>
                <a:cubicBezTo>
                  <a:pt x="76438" y="100705"/>
                  <a:pt x="80970" y="100705"/>
                  <a:pt x="83760" y="97914"/>
                </a:cubicBezTo>
                <a:cubicBezTo>
                  <a:pt x="86551" y="95123"/>
                  <a:pt x="86551" y="90592"/>
                  <a:pt x="83760" y="87801"/>
                </a:cubicBezTo>
                <a:lnTo>
                  <a:pt x="53087" y="57150"/>
                </a:lnTo>
                <a:lnTo>
                  <a:pt x="83738" y="26477"/>
                </a:lnTo>
                <a:cubicBezTo>
                  <a:pt x="86529" y="23686"/>
                  <a:pt x="86529" y="19154"/>
                  <a:pt x="83738" y="16364"/>
                </a:cubicBezTo>
                <a:cubicBezTo>
                  <a:pt x="80948" y="13573"/>
                  <a:pt x="76416" y="13573"/>
                  <a:pt x="73625" y="16364"/>
                </a:cubicBezTo>
                <a:lnTo>
                  <a:pt x="42974" y="47037"/>
                </a:lnTo>
                <a:lnTo>
                  <a:pt x="12301" y="16386"/>
                </a:lnTo>
                <a:close/>
              </a:path>
            </a:pathLst>
          </a:custGeom>
          <a:solidFill>
            <a:srgbClr val="EF4444"/>
          </a:solidFill>
          <a:ln/>
        </p:spPr>
      </p:sp>
      <p:sp>
        <p:nvSpPr>
          <p:cNvPr id="55" name="Text 53"/>
          <p:cNvSpPr/>
          <p:nvPr/>
        </p:nvSpPr>
        <p:spPr>
          <a:xfrm>
            <a:off x="8547050" y="3667125"/>
            <a:ext cx="11620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tool ecosystem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8327975" y="4976813"/>
            <a:ext cx="3286125" cy="9525"/>
          </a:xfrm>
          <a:custGeom>
            <a:avLst/>
            <a:gdLst/>
            <a:ahLst/>
            <a:cxnLst/>
            <a:rect l="l" t="t" r="r" b="b"/>
            <a:pathLst>
              <a:path w="3286125" h="9525">
                <a:moveTo>
                  <a:pt x="0" y="0"/>
                </a:moveTo>
                <a:lnTo>
                  <a:pt x="3286125" y="0"/>
                </a:lnTo>
                <a:lnTo>
                  <a:pt x="32861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57" name="Shape 55"/>
          <p:cNvSpPr/>
          <p:nvPr/>
        </p:nvSpPr>
        <p:spPr>
          <a:xfrm>
            <a:off x="8355360" y="5162550"/>
            <a:ext cx="116681" cy="133350"/>
          </a:xfrm>
          <a:custGeom>
            <a:avLst/>
            <a:gdLst/>
            <a:ahLst/>
            <a:cxnLst/>
            <a:rect l="l" t="t" r="r" b="b"/>
            <a:pathLst>
              <a:path w="116681" h="133350">
                <a:moveTo>
                  <a:pt x="113243" y="18257"/>
                </a:moveTo>
                <a:cubicBezTo>
                  <a:pt x="116968" y="20966"/>
                  <a:pt x="117801" y="26175"/>
                  <a:pt x="115093" y="29900"/>
                </a:cubicBezTo>
                <a:lnTo>
                  <a:pt x="48418" y="121578"/>
                </a:lnTo>
                <a:cubicBezTo>
                  <a:pt x="46985" y="123557"/>
                  <a:pt x="44771" y="124781"/>
                  <a:pt x="42323" y="124990"/>
                </a:cubicBezTo>
                <a:cubicBezTo>
                  <a:pt x="39875" y="125198"/>
                  <a:pt x="37505" y="124286"/>
                  <a:pt x="35786" y="122567"/>
                </a:cubicBezTo>
                <a:lnTo>
                  <a:pt x="2448" y="89230"/>
                </a:lnTo>
                <a:cubicBezTo>
                  <a:pt x="-807" y="85974"/>
                  <a:pt x="-807" y="80687"/>
                  <a:pt x="2448" y="77432"/>
                </a:cubicBezTo>
                <a:cubicBezTo>
                  <a:pt x="5704" y="74176"/>
                  <a:pt x="10991" y="74176"/>
                  <a:pt x="14247" y="77432"/>
                </a:cubicBezTo>
                <a:lnTo>
                  <a:pt x="40682" y="103867"/>
                </a:lnTo>
                <a:lnTo>
                  <a:pt x="101627" y="20081"/>
                </a:lnTo>
                <a:cubicBezTo>
                  <a:pt x="104336" y="16356"/>
                  <a:pt x="109545" y="15523"/>
                  <a:pt x="113269" y="1823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58" name="Text 56"/>
          <p:cNvSpPr/>
          <p:nvPr/>
        </p:nvSpPr>
        <p:spPr>
          <a:xfrm>
            <a:off x="8528000" y="5133975"/>
            <a:ext cx="31527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Verbll is what learners build on top — already built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400050" y="5676900"/>
            <a:ext cx="11410950" cy="800100"/>
          </a:xfrm>
          <a:custGeom>
            <a:avLst/>
            <a:gdLst/>
            <a:ahLst/>
            <a:cxnLst/>
            <a:rect l="l" t="t" r="r" b="b"/>
            <a:pathLst>
              <a:path w="11410950" h="800100">
                <a:moveTo>
                  <a:pt x="0" y="0"/>
                </a:moveTo>
                <a:lnTo>
                  <a:pt x="11296648" y="0"/>
                </a:lnTo>
                <a:cubicBezTo>
                  <a:pt x="11359733" y="0"/>
                  <a:pt x="11410950" y="51217"/>
                  <a:pt x="11410950" y="114302"/>
                </a:cubicBezTo>
                <a:lnTo>
                  <a:pt x="11410950" y="685798"/>
                </a:lnTo>
                <a:cubicBezTo>
                  <a:pt x="11410950" y="748883"/>
                  <a:pt x="11359733" y="800100"/>
                  <a:pt x="11296648" y="800100"/>
                </a:cubicBez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60" name="Shape 58"/>
          <p:cNvSpPr/>
          <p:nvPr/>
        </p:nvSpPr>
        <p:spPr>
          <a:xfrm>
            <a:off x="400050" y="5676900"/>
            <a:ext cx="38100" cy="800100"/>
          </a:xfrm>
          <a:custGeom>
            <a:avLst/>
            <a:gdLst/>
            <a:ahLst/>
            <a:cxnLst/>
            <a:rect l="l" t="t" r="r" b="b"/>
            <a:pathLst>
              <a:path w="38100" h="800100">
                <a:moveTo>
                  <a:pt x="0" y="0"/>
                </a:moveTo>
                <a:lnTo>
                  <a:pt x="38100" y="0"/>
                </a:lnTo>
                <a:lnTo>
                  <a:pt x="38100" y="800100"/>
                </a:lnTo>
                <a:lnTo>
                  <a:pt x="0" y="8001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1" name="Shape 59"/>
          <p:cNvSpPr/>
          <p:nvPr/>
        </p:nvSpPr>
        <p:spPr>
          <a:xfrm>
            <a:off x="581025" y="58769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93166" y="25956"/>
                </a:moveTo>
                <a:cubicBezTo>
                  <a:pt x="95905" y="23783"/>
                  <a:pt x="97631" y="20419"/>
                  <a:pt x="97631" y="16669"/>
                </a:cubicBezTo>
                <a:cubicBezTo>
                  <a:pt x="97631" y="10091"/>
                  <a:pt x="92303" y="4763"/>
                  <a:pt x="85725" y="4763"/>
                </a:cubicBezTo>
                <a:cubicBezTo>
                  <a:pt x="79147" y="4763"/>
                  <a:pt x="73819" y="10091"/>
                  <a:pt x="73819" y="16669"/>
                </a:cubicBezTo>
                <a:cubicBezTo>
                  <a:pt x="73819" y="20419"/>
                  <a:pt x="75575" y="23783"/>
                  <a:pt x="78284" y="25956"/>
                </a:cubicBezTo>
                <a:lnTo>
                  <a:pt x="57924" y="57983"/>
                </a:lnTo>
                <a:cubicBezTo>
                  <a:pt x="54947" y="62657"/>
                  <a:pt x="48607" y="63818"/>
                  <a:pt x="44172" y="60484"/>
                </a:cubicBezTo>
                <a:lnTo>
                  <a:pt x="26462" y="47238"/>
                </a:lnTo>
                <a:cubicBezTo>
                  <a:pt x="27801" y="45333"/>
                  <a:pt x="28575" y="42982"/>
                  <a:pt x="28575" y="40481"/>
                </a:cubicBezTo>
                <a:cubicBezTo>
                  <a:pt x="28575" y="33903"/>
                  <a:pt x="23247" y="28575"/>
                  <a:pt x="16669" y="28575"/>
                </a:cubicBezTo>
                <a:cubicBezTo>
                  <a:pt x="10091" y="28575"/>
                  <a:pt x="4763" y="33903"/>
                  <a:pt x="4763" y="40481"/>
                </a:cubicBezTo>
                <a:cubicBezTo>
                  <a:pt x="4763" y="46970"/>
                  <a:pt x="9971" y="52268"/>
                  <a:pt x="16431" y="52388"/>
                </a:cubicBezTo>
                <a:lnTo>
                  <a:pt x="26134" y="117128"/>
                </a:lnTo>
                <a:cubicBezTo>
                  <a:pt x="27533" y="126444"/>
                  <a:pt x="35540" y="133350"/>
                  <a:pt x="44976" y="133350"/>
                </a:cubicBezTo>
                <a:lnTo>
                  <a:pt x="126474" y="133350"/>
                </a:lnTo>
                <a:cubicBezTo>
                  <a:pt x="135910" y="133350"/>
                  <a:pt x="143917" y="126444"/>
                  <a:pt x="145316" y="117128"/>
                </a:cubicBezTo>
                <a:lnTo>
                  <a:pt x="155019" y="52388"/>
                </a:lnTo>
                <a:cubicBezTo>
                  <a:pt x="161479" y="52268"/>
                  <a:pt x="166688" y="46970"/>
                  <a:pt x="166688" y="40481"/>
                </a:cubicBezTo>
                <a:cubicBezTo>
                  <a:pt x="166688" y="33903"/>
                  <a:pt x="161359" y="28575"/>
                  <a:pt x="154781" y="28575"/>
                </a:cubicBezTo>
                <a:cubicBezTo>
                  <a:pt x="148203" y="28575"/>
                  <a:pt x="142875" y="33903"/>
                  <a:pt x="142875" y="40481"/>
                </a:cubicBezTo>
                <a:cubicBezTo>
                  <a:pt x="142875" y="42982"/>
                  <a:pt x="143649" y="45333"/>
                  <a:pt x="144988" y="47238"/>
                </a:cubicBezTo>
                <a:lnTo>
                  <a:pt x="127308" y="60514"/>
                </a:lnTo>
                <a:cubicBezTo>
                  <a:pt x="122873" y="63847"/>
                  <a:pt x="116532" y="62686"/>
                  <a:pt x="113556" y="58013"/>
                </a:cubicBezTo>
                <a:lnTo>
                  <a:pt x="93166" y="25956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62" name="Text 60"/>
          <p:cNvSpPr/>
          <p:nvPr/>
        </p:nvSpPr>
        <p:spPr>
          <a:xfrm>
            <a:off x="819150" y="5829300"/>
            <a:ext cx="10915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real competitive advantage is not any single tool. It is the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learner data layer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Competitors would need to rebuild their entire architecture to replicate it — and they would need to start without the user data Verbll is already collecting.</a:t>
            </a:r>
            <a:endParaRPr lang="en-US" sz="1600" dirty="0"/>
          </a:p>
        </p:txBody>
      </p:sp>
      <p:pic>
        <p:nvPicPr>
          <p:cNvPr id="63" name="Image 0" descr="https://kimi-img.moonshot.cn/pub/slides/26-03-17-22:00:32-d6slt03fj2j45vb6nn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0975" y="222541"/>
            <a:ext cx="425159" cy="42515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BUSINESS MODEL &amp; TRACTION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 to start. $15/month subscription.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Institutional licensing in Year 2.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566863"/>
            <a:ext cx="5610225" cy="1381125"/>
          </a:xfrm>
          <a:custGeom>
            <a:avLst/>
            <a:gdLst/>
            <a:ahLst/>
            <a:cxnLst/>
            <a:rect l="l" t="t" r="r" b="b"/>
            <a:pathLst>
              <a:path w="5610225" h="1381125">
                <a:moveTo>
                  <a:pt x="114302" y="0"/>
                </a:moveTo>
                <a:lnTo>
                  <a:pt x="5495923" y="0"/>
                </a:lnTo>
                <a:cubicBezTo>
                  <a:pt x="5559050" y="0"/>
                  <a:pt x="5610225" y="51175"/>
                  <a:pt x="5610225" y="114302"/>
                </a:cubicBezTo>
                <a:lnTo>
                  <a:pt x="5610225" y="1266823"/>
                </a:lnTo>
                <a:cubicBezTo>
                  <a:pt x="5610225" y="1329950"/>
                  <a:pt x="5559050" y="1381125"/>
                  <a:pt x="5495923" y="1381125"/>
                </a:cubicBezTo>
                <a:lnTo>
                  <a:pt x="114302" y="1381125"/>
                </a:lnTo>
                <a:cubicBezTo>
                  <a:pt x="51175" y="1381125"/>
                  <a:pt x="0" y="1329950"/>
                  <a:pt x="0" y="12668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1025" y="1762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695325" y="18764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28575"/>
                </a:moveTo>
                <a:lnTo>
                  <a:pt x="38100" y="23813"/>
                </a:lnTo>
                <a:cubicBezTo>
                  <a:pt x="38100" y="10656"/>
                  <a:pt x="63698" y="0"/>
                  <a:pt x="95250" y="0"/>
                </a:cubicBezTo>
                <a:cubicBezTo>
                  <a:pt x="126802" y="0"/>
                  <a:pt x="152400" y="10656"/>
                  <a:pt x="152400" y="23813"/>
                </a:cubicBezTo>
                <a:lnTo>
                  <a:pt x="152400" y="28575"/>
                </a:lnTo>
                <a:cubicBezTo>
                  <a:pt x="152400" y="37683"/>
                  <a:pt x="140107" y="45601"/>
                  <a:pt x="122039" y="49619"/>
                </a:cubicBezTo>
                <a:cubicBezTo>
                  <a:pt x="121325" y="48786"/>
                  <a:pt x="120581" y="47982"/>
                  <a:pt x="119836" y="47238"/>
                </a:cubicBezTo>
                <a:cubicBezTo>
                  <a:pt x="115223" y="42684"/>
                  <a:pt x="109270" y="39231"/>
                  <a:pt x="103049" y="36671"/>
                </a:cubicBezTo>
                <a:cubicBezTo>
                  <a:pt x="90577" y="31462"/>
                  <a:pt x="74325" y="28605"/>
                  <a:pt x="57150" y="28605"/>
                </a:cubicBezTo>
                <a:cubicBezTo>
                  <a:pt x="50631" y="28605"/>
                  <a:pt x="44261" y="29021"/>
                  <a:pt x="38160" y="29825"/>
                </a:cubicBezTo>
                <a:cubicBezTo>
                  <a:pt x="38100" y="29438"/>
                  <a:pt x="38100" y="29021"/>
                  <a:pt x="38100" y="28605"/>
                </a:cubicBezTo>
                <a:close/>
                <a:moveTo>
                  <a:pt x="128588" y="105073"/>
                </a:moveTo>
                <a:lnTo>
                  <a:pt x="128588" y="91321"/>
                </a:lnTo>
                <a:cubicBezTo>
                  <a:pt x="133082" y="90160"/>
                  <a:pt x="137309" y="88791"/>
                  <a:pt x="141149" y="87184"/>
                </a:cubicBezTo>
                <a:cubicBezTo>
                  <a:pt x="145078" y="85546"/>
                  <a:pt x="148917" y="83552"/>
                  <a:pt x="152400" y="81141"/>
                </a:cubicBezTo>
                <a:lnTo>
                  <a:pt x="152400" y="85725"/>
                </a:lnTo>
                <a:cubicBezTo>
                  <a:pt x="152400" y="93702"/>
                  <a:pt x="143024" y="100757"/>
                  <a:pt x="128588" y="105073"/>
                </a:cubicBezTo>
                <a:close/>
                <a:moveTo>
                  <a:pt x="128588" y="76498"/>
                </a:moveTo>
                <a:lnTo>
                  <a:pt x="128588" y="66675"/>
                </a:lnTo>
                <a:cubicBezTo>
                  <a:pt x="128588" y="65336"/>
                  <a:pt x="128468" y="64056"/>
                  <a:pt x="128290" y="62805"/>
                </a:cubicBezTo>
                <a:cubicBezTo>
                  <a:pt x="132904" y="61645"/>
                  <a:pt x="137220" y="60246"/>
                  <a:pt x="141149" y="58579"/>
                </a:cubicBezTo>
                <a:cubicBezTo>
                  <a:pt x="145078" y="56912"/>
                  <a:pt x="148917" y="54947"/>
                  <a:pt x="152400" y="52536"/>
                </a:cubicBezTo>
                <a:lnTo>
                  <a:pt x="152400" y="57120"/>
                </a:lnTo>
                <a:cubicBezTo>
                  <a:pt x="152400" y="65097"/>
                  <a:pt x="143024" y="72152"/>
                  <a:pt x="128588" y="76468"/>
                </a:cubicBezTo>
                <a:close/>
                <a:moveTo>
                  <a:pt x="0" y="71438"/>
                </a:moveTo>
                <a:lnTo>
                  <a:pt x="0" y="66675"/>
                </a:lnTo>
                <a:cubicBezTo>
                  <a:pt x="0" y="53519"/>
                  <a:pt x="25598" y="42863"/>
                  <a:pt x="57150" y="42863"/>
                </a:cubicBezTo>
                <a:cubicBezTo>
                  <a:pt x="88702" y="42863"/>
                  <a:pt x="114300" y="53519"/>
                  <a:pt x="114300" y="66675"/>
                </a:cubicBezTo>
                <a:lnTo>
                  <a:pt x="114300" y="71438"/>
                </a:lnTo>
                <a:cubicBezTo>
                  <a:pt x="114300" y="84594"/>
                  <a:pt x="88702" y="95250"/>
                  <a:pt x="57150" y="95250"/>
                </a:cubicBezTo>
                <a:cubicBezTo>
                  <a:pt x="25598" y="95250"/>
                  <a:pt x="0" y="84594"/>
                  <a:pt x="0" y="71438"/>
                </a:cubicBezTo>
                <a:close/>
                <a:moveTo>
                  <a:pt x="114300" y="100013"/>
                </a:moveTo>
                <a:cubicBezTo>
                  <a:pt x="114300" y="113169"/>
                  <a:pt x="88702" y="123825"/>
                  <a:pt x="57150" y="123825"/>
                </a:cubicBezTo>
                <a:cubicBezTo>
                  <a:pt x="25598" y="123825"/>
                  <a:pt x="0" y="113169"/>
                  <a:pt x="0" y="100013"/>
                </a:cubicBezTo>
                <a:lnTo>
                  <a:pt x="0" y="95429"/>
                </a:lnTo>
                <a:cubicBezTo>
                  <a:pt x="3453" y="97840"/>
                  <a:pt x="7293" y="99804"/>
                  <a:pt x="11251" y="101471"/>
                </a:cubicBezTo>
                <a:cubicBezTo>
                  <a:pt x="23723" y="106680"/>
                  <a:pt x="39975" y="109538"/>
                  <a:pt x="57150" y="109538"/>
                </a:cubicBezTo>
                <a:cubicBezTo>
                  <a:pt x="74325" y="109538"/>
                  <a:pt x="90577" y="106650"/>
                  <a:pt x="103049" y="101471"/>
                </a:cubicBezTo>
                <a:cubicBezTo>
                  <a:pt x="106978" y="99834"/>
                  <a:pt x="110817" y="97840"/>
                  <a:pt x="114300" y="95429"/>
                </a:cubicBezTo>
                <a:lnTo>
                  <a:pt x="114300" y="100013"/>
                </a:lnTo>
                <a:close/>
                <a:moveTo>
                  <a:pt x="114300" y="124004"/>
                </a:moveTo>
                <a:lnTo>
                  <a:pt x="114300" y="128588"/>
                </a:lnTo>
                <a:cubicBezTo>
                  <a:pt x="114300" y="141744"/>
                  <a:pt x="88702" y="152400"/>
                  <a:pt x="57150" y="152400"/>
                </a:cubicBezTo>
                <a:cubicBezTo>
                  <a:pt x="25598" y="152400"/>
                  <a:pt x="0" y="141744"/>
                  <a:pt x="0" y="128588"/>
                </a:cubicBezTo>
                <a:lnTo>
                  <a:pt x="0" y="124004"/>
                </a:lnTo>
                <a:cubicBezTo>
                  <a:pt x="3453" y="126415"/>
                  <a:pt x="7293" y="128379"/>
                  <a:pt x="11251" y="130046"/>
                </a:cubicBezTo>
                <a:cubicBezTo>
                  <a:pt x="23723" y="135255"/>
                  <a:pt x="39975" y="138113"/>
                  <a:pt x="57150" y="138113"/>
                </a:cubicBezTo>
                <a:cubicBezTo>
                  <a:pt x="74325" y="138113"/>
                  <a:pt x="90577" y="135225"/>
                  <a:pt x="103049" y="130046"/>
                </a:cubicBezTo>
                <a:cubicBezTo>
                  <a:pt x="106978" y="128409"/>
                  <a:pt x="110817" y="126415"/>
                  <a:pt x="114300" y="124004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8" name="Text 6"/>
          <p:cNvSpPr/>
          <p:nvPr/>
        </p:nvSpPr>
        <p:spPr>
          <a:xfrm>
            <a:off x="1076325" y="1819275"/>
            <a:ext cx="12573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Revenue Model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25742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Free tier to drive adoption and data.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$15/month subscription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for full platform access. Priced below every major competitor while delivering more.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85763" y="3109913"/>
            <a:ext cx="5610225" cy="1381125"/>
          </a:xfrm>
          <a:custGeom>
            <a:avLst/>
            <a:gdLst/>
            <a:ahLst/>
            <a:cxnLst/>
            <a:rect l="l" t="t" r="r" b="b"/>
            <a:pathLst>
              <a:path w="5610225" h="1381125">
                <a:moveTo>
                  <a:pt x="114302" y="0"/>
                </a:moveTo>
                <a:lnTo>
                  <a:pt x="5495923" y="0"/>
                </a:lnTo>
                <a:cubicBezTo>
                  <a:pt x="5559050" y="0"/>
                  <a:pt x="5610225" y="51175"/>
                  <a:pt x="5610225" y="114302"/>
                </a:cubicBezTo>
                <a:lnTo>
                  <a:pt x="5610225" y="1266823"/>
                </a:lnTo>
                <a:cubicBezTo>
                  <a:pt x="5610225" y="1329950"/>
                  <a:pt x="5559050" y="1381125"/>
                  <a:pt x="5495923" y="1381125"/>
                </a:cubicBezTo>
                <a:lnTo>
                  <a:pt x="114302" y="1381125"/>
                </a:lnTo>
                <a:cubicBezTo>
                  <a:pt x="51175" y="1381125"/>
                  <a:pt x="0" y="1329950"/>
                  <a:pt x="0" y="12668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1025" y="330517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695325" y="341947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9050" y="19050"/>
                </a:moveTo>
                <a:cubicBezTo>
                  <a:pt x="19050" y="13781"/>
                  <a:pt x="14794" y="9525"/>
                  <a:pt x="9525" y="9525"/>
                </a:cubicBezTo>
                <a:cubicBezTo>
                  <a:pt x="4256" y="9525"/>
                  <a:pt x="0" y="13781"/>
                  <a:pt x="0" y="19050"/>
                </a:cubicBezTo>
                <a:lnTo>
                  <a:pt x="0" y="119062"/>
                </a:lnTo>
                <a:cubicBezTo>
                  <a:pt x="0" y="132219"/>
                  <a:pt x="10656" y="142875"/>
                  <a:pt x="23813" y="142875"/>
                </a:cubicBezTo>
                <a:lnTo>
                  <a:pt x="142875" y="142875"/>
                </a:lnTo>
                <a:cubicBezTo>
                  <a:pt x="148144" y="142875"/>
                  <a:pt x="152400" y="138619"/>
                  <a:pt x="152400" y="133350"/>
                </a:cubicBezTo>
                <a:cubicBezTo>
                  <a:pt x="152400" y="128081"/>
                  <a:pt x="148144" y="123825"/>
                  <a:pt x="142875" y="123825"/>
                </a:cubicBezTo>
                <a:lnTo>
                  <a:pt x="23813" y="123825"/>
                </a:lnTo>
                <a:cubicBezTo>
                  <a:pt x="21193" y="123825"/>
                  <a:pt x="19050" y="121682"/>
                  <a:pt x="19050" y="119062"/>
                </a:cubicBezTo>
                <a:lnTo>
                  <a:pt x="19050" y="19050"/>
                </a:lnTo>
                <a:close/>
                <a:moveTo>
                  <a:pt x="140077" y="44827"/>
                </a:moveTo>
                <a:cubicBezTo>
                  <a:pt x="143798" y="41106"/>
                  <a:pt x="143798" y="35064"/>
                  <a:pt x="140077" y="31343"/>
                </a:cubicBezTo>
                <a:cubicBezTo>
                  <a:pt x="136356" y="27622"/>
                  <a:pt x="130314" y="27622"/>
                  <a:pt x="126593" y="31343"/>
                </a:cubicBezTo>
                <a:lnTo>
                  <a:pt x="95250" y="62716"/>
                </a:lnTo>
                <a:lnTo>
                  <a:pt x="78165" y="45660"/>
                </a:lnTo>
                <a:cubicBezTo>
                  <a:pt x="74444" y="41940"/>
                  <a:pt x="68401" y="41940"/>
                  <a:pt x="64681" y="45660"/>
                </a:cubicBezTo>
                <a:lnTo>
                  <a:pt x="36106" y="74235"/>
                </a:lnTo>
                <a:cubicBezTo>
                  <a:pt x="32385" y="77956"/>
                  <a:pt x="32385" y="83999"/>
                  <a:pt x="36106" y="87719"/>
                </a:cubicBezTo>
                <a:cubicBezTo>
                  <a:pt x="39826" y="91440"/>
                  <a:pt x="45869" y="91440"/>
                  <a:pt x="49590" y="87719"/>
                </a:cubicBezTo>
                <a:lnTo>
                  <a:pt x="71438" y="65871"/>
                </a:lnTo>
                <a:lnTo>
                  <a:pt x="88523" y="82957"/>
                </a:lnTo>
                <a:cubicBezTo>
                  <a:pt x="92244" y="86678"/>
                  <a:pt x="98286" y="86678"/>
                  <a:pt x="102007" y="82957"/>
                </a:cubicBezTo>
                <a:lnTo>
                  <a:pt x="140107" y="44857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3" name="Text 11"/>
          <p:cNvSpPr/>
          <p:nvPr/>
        </p:nvSpPr>
        <p:spPr>
          <a:xfrm>
            <a:off x="1076325" y="3362325"/>
            <a:ext cx="12763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Unit Economics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81025" y="3800475"/>
            <a:ext cx="5295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Costs per user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10B98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decrease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as data lake grows — cached responses, refined models, reduced API spend. Margin improves with scale, not despite it.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85763" y="4652963"/>
            <a:ext cx="5610225" cy="1628775"/>
          </a:xfrm>
          <a:custGeom>
            <a:avLst/>
            <a:gdLst/>
            <a:ahLst/>
            <a:cxnLst/>
            <a:rect l="l" t="t" r="r" b="b"/>
            <a:pathLst>
              <a:path w="5610225" h="162877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514468"/>
                </a:lnTo>
                <a:cubicBezTo>
                  <a:pt x="5610225" y="1577598"/>
                  <a:pt x="5559048" y="1628775"/>
                  <a:pt x="5495918" y="1628775"/>
                </a:cubicBezTo>
                <a:lnTo>
                  <a:pt x="114307" y="1628775"/>
                </a:lnTo>
                <a:cubicBezTo>
                  <a:pt x="51177" y="1628775"/>
                  <a:pt x="0" y="1577598"/>
                  <a:pt x="0" y="151446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1025" y="4848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695325" y="4962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38100" y="95250"/>
                </a:moveTo>
                <a:lnTo>
                  <a:pt x="7293" y="95250"/>
                </a:lnTo>
                <a:cubicBezTo>
                  <a:pt x="-119" y="95250"/>
                  <a:pt x="-4673" y="87184"/>
                  <a:pt x="-863" y="80814"/>
                </a:cubicBezTo>
                <a:lnTo>
                  <a:pt x="14883" y="54560"/>
                </a:lnTo>
                <a:cubicBezTo>
                  <a:pt x="17472" y="50244"/>
                  <a:pt x="22116" y="47625"/>
                  <a:pt x="27146" y="47625"/>
                </a:cubicBezTo>
                <a:lnTo>
                  <a:pt x="55424" y="47625"/>
                </a:lnTo>
                <a:cubicBezTo>
                  <a:pt x="78075" y="9257"/>
                  <a:pt x="111859" y="7322"/>
                  <a:pt x="134451" y="10626"/>
                </a:cubicBezTo>
                <a:cubicBezTo>
                  <a:pt x="138261" y="11192"/>
                  <a:pt x="141238" y="14168"/>
                  <a:pt x="141774" y="17949"/>
                </a:cubicBezTo>
                <a:cubicBezTo>
                  <a:pt x="145078" y="40541"/>
                  <a:pt x="143143" y="74325"/>
                  <a:pt x="104775" y="96976"/>
                </a:cubicBezTo>
                <a:lnTo>
                  <a:pt x="104775" y="125254"/>
                </a:lnTo>
                <a:cubicBezTo>
                  <a:pt x="104775" y="130284"/>
                  <a:pt x="102156" y="134928"/>
                  <a:pt x="97840" y="137517"/>
                </a:cubicBezTo>
                <a:lnTo>
                  <a:pt x="71586" y="153263"/>
                </a:lnTo>
                <a:cubicBezTo>
                  <a:pt x="65246" y="157073"/>
                  <a:pt x="57150" y="152489"/>
                  <a:pt x="57150" y="145107"/>
                </a:cubicBezTo>
                <a:lnTo>
                  <a:pt x="57150" y="114300"/>
                </a:lnTo>
                <a:cubicBezTo>
                  <a:pt x="57150" y="103793"/>
                  <a:pt x="48607" y="95250"/>
                  <a:pt x="38100" y="95250"/>
                </a:cubicBezTo>
                <a:lnTo>
                  <a:pt x="38070" y="95250"/>
                </a:lnTo>
                <a:close/>
                <a:moveTo>
                  <a:pt x="119062" y="47625"/>
                </a:moveTo>
                <a:cubicBezTo>
                  <a:pt x="119062" y="39740"/>
                  <a:pt x="112660" y="33338"/>
                  <a:pt x="104775" y="33338"/>
                </a:cubicBezTo>
                <a:cubicBezTo>
                  <a:pt x="96890" y="33338"/>
                  <a:pt x="90488" y="39740"/>
                  <a:pt x="90488" y="47625"/>
                </a:cubicBezTo>
                <a:cubicBezTo>
                  <a:pt x="90488" y="55510"/>
                  <a:pt x="96890" y="61912"/>
                  <a:pt x="104775" y="61912"/>
                </a:cubicBezTo>
                <a:cubicBezTo>
                  <a:pt x="112660" y="61912"/>
                  <a:pt x="119062" y="55510"/>
                  <a:pt x="119062" y="47625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8" name="Text 16"/>
          <p:cNvSpPr/>
          <p:nvPr/>
        </p:nvSpPr>
        <p:spPr>
          <a:xfrm>
            <a:off x="1076325" y="4905375"/>
            <a:ext cx="714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Traction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1025" y="5343525"/>
            <a:ext cx="529590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Platform 95% build with final security review,  bug resolution in progress and new tools ot be added. Early access signups launching this week.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public launch: 5–7 weeks.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196013" y="1566863"/>
            <a:ext cx="5610225" cy="1419225"/>
          </a:xfrm>
          <a:custGeom>
            <a:avLst/>
            <a:gdLst/>
            <a:ahLst/>
            <a:cxnLst/>
            <a:rect l="l" t="t" r="r" b="b"/>
            <a:pathLst>
              <a:path w="5610225" h="1419225">
                <a:moveTo>
                  <a:pt x="114304" y="0"/>
                </a:moveTo>
                <a:lnTo>
                  <a:pt x="5495921" y="0"/>
                </a:lnTo>
                <a:cubicBezTo>
                  <a:pt x="5559049" y="0"/>
                  <a:pt x="5610225" y="51176"/>
                  <a:pt x="5610225" y="114304"/>
                </a:cubicBezTo>
                <a:lnTo>
                  <a:pt x="5610225" y="1304921"/>
                </a:lnTo>
                <a:cubicBezTo>
                  <a:pt x="5610225" y="1368049"/>
                  <a:pt x="5559049" y="1419225"/>
                  <a:pt x="5495921" y="1419225"/>
                </a:cubicBezTo>
                <a:lnTo>
                  <a:pt x="114304" y="1419225"/>
                </a:lnTo>
                <a:cubicBezTo>
                  <a:pt x="51176" y="1419225"/>
                  <a:pt x="0" y="1368049"/>
                  <a:pt x="0" y="1304921"/>
                </a:cubicBezTo>
                <a:lnTo>
                  <a:pt x="0" y="114304"/>
                </a:lnTo>
                <a:cubicBezTo>
                  <a:pt x="0" y="51218"/>
                  <a:pt x="51218" y="0"/>
                  <a:pt x="114304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91275" y="1762125"/>
            <a:ext cx="10668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 1 Target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10878294" y="1762125"/>
            <a:ext cx="733425" cy="266700"/>
          </a:xfrm>
          <a:custGeom>
            <a:avLst/>
            <a:gdLst/>
            <a:ahLst/>
            <a:cxnLst/>
            <a:rect l="l" t="t" r="r" b="b"/>
            <a:pathLst>
              <a:path w="733425" h="266700">
                <a:moveTo>
                  <a:pt x="133350" y="0"/>
                </a:moveTo>
                <a:lnTo>
                  <a:pt x="600075" y="0"/>
                </a:lnTo>
                <a:cubicBezTo>
                  <a:pt x="673673" y="0"/>
                  <a:pt x="733425" y="59752"/>
                  <a:pt x="733425" y="133350"/>
                </a:cubicBezTo>
                <a:lnTo>
                  <a:pt x="733425" y="133350"/>
                </a:lnTo>
                <a:cubicBezTo>
                  <a:pt x="733425" y="206948"/>
                  <a:pt x="673673" y="266700"/>
                  <a:pt x="6000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3" name="Text 21"/>
          <p:cNvSpPr/>
          <p:nvPr/>
        </p:nvSpPr>
        <p:spPr>
          <a:xfrm>
            <a:off x="10878294" y="1762125"/>
            <a:ext cx="8001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391275" y="2143125"/>
            <a:ext cx="126721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$ 1.8 M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658494" y="2257425"/>
            <a:ext cx="1133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ARR run rate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391275" y="2600325"/>
            <a:ext cx="52863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100K subscribers at $15/month. UK, India, and Europe primary markets.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6196013" y="3148013"/>
            <a:ext cx="5610225" cy="1571625"/>
          </a:xfrm>
          <a:custGeom>
            <a:avLst/>
            <a:gdLst/>
            <a:ahLst/>
            <a:cxnLst/>
            <a:rect l="l" t="t" r="r" b="b"/>
            <a:pathLst>
              <a:path w="5610225" h="1571625">
                <a:moveTo>
                  <a:pt x="114304" y="0"/>
                </a:moveTo>
                <a:lnTo>
                  <a:pt x="5495921" y="0"/>
                </a:lnTo>
                <a:cubicBezTo>
                  <a:pt x="5559049" y="0"/>
                  <a:pt x="5610225" y="51176"/>
                  <a:pt x="5610225" y="114304"/>
                </a:cubicBezTo>
                <a:lnTo>
                  <a:pt x="5610225" y="1457321"/>
                </a:lnTo>
                <a:cubicBezTo>
                  <a:pt x="5610225" y="1520449"/>
                  <a:pt x="5559049" y="1571625"/>
                  <a:pt x="5495921" y="1571625"/>
                </a:cubicBezTo>
                <a:lnTo>
                  <a:pt x="114304" y="1571625"/>
                </a:lnTo>
                <a:cubicBezTo>
                  <a:pt x="51176" y="1571625"/>
                  <a:pt x="0" y="1520449"/>
                  <a:pt x="0" y="14573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91275" y="3343275"/>
            <a:ext cx="53054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 2–3 Expansion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91275" y="3724275"/>
            <a:ext cx="5295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Institutional licensing to schools, colleges, universities. Per-student pricing.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396038" y="4090987"/>
            <a:ext cx="5210175" cy="428625"/>
          </a:xfrm>
          <a:custGeom>
            <a:avLst/>
            <a:gdLst/>
            <a:ahLst/>
            <a:cxnLst/>
            <a:rect l="l" t="t" r="r" b="b"/>
            <a:pathLst>
              <a:path w="5210175" h="428625">
                <a:moveTo>
                  <a:pt x="76201" y="0"/>
                </a:moveTo>
                <a:lnTo>
                  <a:pt x="5133974" y="0"/>
                </a:lnTo>
                <a:cubicBezTo>
                  <a:pt x="5176059" y="0"/>
                  <a:pt x="5210175" y="34116"/>
                  <a:pt x="5210175" y="76201"/>
                </a:cubicBezTo>
                <a:lnTo>
                  <a:pt x="5210175" y="352424"/>
                </a:lnTo>
                <a:cubicBezTo>
                  <a:pt x="5210175" y="394509"/>
                  <a:pt x="5176059" y="428625"/>
                  <a:pt x="5133974" y="428625"/>
                </a:cubicBezTo>
                <a:lnTo>
                  <a:pt x="76201" y="428625"/>
                </a:lnTo>
                <a:cubicBezTo>
                  <a:pt x="34116" y="428625"/>
                  <a:pt x="0" y="394509"/>
                  <a:pt x="0" y="352424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6366F1">
              <a:alpha val="10196"/>
            </a:srgbClr>
          </a:solidFill>
          <a:ln w="12700">
            <a:solidFill>
              <a:srgbClr val="6366F1">
                <a:alpha val="30196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550819" y="42386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76286" y="100013"/>
                </a:moveTo>
                <a:cubicBezTo>
                  <a:pt x="78187" y="94204"/>
                  <a:pt x="81989" y="88943"/>
                  <a:pt x="86287" y="84412"/>
                </a:cubicBezTo>
                <a:cubicBezTo>
                  <a:pt x="94804" y="75452"/>
                  <a:pt x="100012" y="63341"/>
                  <a:pt x="100012" y="50006"/>
                </a:cubicBezTo>
                <a:cubicBezTo>
                  <a:pt x="100012" y="22399"/>
                  <a:pt x="77614" y="0"/>
                  <a:pt x="50006" y="0"/>
                </a:cubicBezTo>
                <a:cubicBezTo>
                  <a:pt x="22399" y="0"/>
                  <a:pt x="0" y="22399"/>
                  <a:pt x="0" y="50006"/>
                </a:cubicBezTo>
                <a:cubicBezTo>
                  <a:pt x="0" y="63341"/>
                  <a:pt x="5209" y="75452"/>
                  <a:pt x="13726" y="84412"/>
                </a:cubicBezTo>
                <a:cubicBezTo>
                  <a:pt x="18023" y="88943"/>
                  <a:pt x="21852" y="94204"/>
                  <a:pt x="23727" y="100013"/>
                </a:cubicBezTo>
                <a:lnTo>
                  <a:pt x="76260" y="100013"/>
                </a:lnTo>
                <a:close/>
                <a:moveTo>
                  <a:pt x="75009" y="112514"/>
                </a:moveTo>
                <a:lnTo>
                  <a:pt x="25003" y="112514"/>
                </a:lnTo>
                <a:lnTo>
                  <a:pt x="25003" y="116681"/>
                </a:lnTo>
                <a:cubicBezTo>
                  <a:pt x="25003" y="128193"/>
                  <a:pt x="34327" y="137517"/>
                  <a:pt x="45839" y="137517"/>
                </a:cubicBezTo>
                <a:lnTo>
                  <a:pt x="54173" y="137517"/>
                </a:lnTo>
                <a:cubicBezTo>
                  <a:pt x="65685" y="137517"/>
                  <a:pt x="75009" y="128193"/>
                  <a:pt x="75009" y="116681"/>
                </a:cubicBezTo>
                <a:lnTo>
                  <a:pt x="75009" y="112514"/>
                </a:lnTo>
                <a:close/>
                <a:moveTo>
                  <a:pt x="47923" y="29170"/>
                </a:moveTo>
                <a:cubicBezTo>
                  <a:pt x="37557" y="29170"/>
                  <a:pt x="29170" y="37557"/>
                  <a:pt x="29170" y="47923"/>
                </a:cubicBezTo>
                <a:cubicBezTo>
                  <a:pt x="29170" y="51387"/>
                  <a:pt x="26384" y="54173"/>
                  <a:pt x="22920" y="54173"/>
                </a:cubicBezTo>
                <a:cubicBezTo>
                  <a:pt x="19456" y="54173"/>
                  <a:pt x="16669" y="51387"/>
                  <a:pt x="16669" y="47923"/>
                </a:cubicBezTo>
                <a:cubicBezTo>
                  <a:pt x="16669" y="30655"/>
                  <a:pt x="30655" y="16669"/>
                  <a:pt x="47923" y="16669"/>
                </a:cubicBezTo>
                <a:cubicBezTo>
                  <a:pt x="51387" y="16669"/>
                  <a:pt x="54173" y="19456"/>
                  <a:pt x="54173" y="22920"/>
                </a:cubicBezTo>
                <a:cubicBezTo>
                  <a:pt x="54173" y="26384"/>
                  <a:pt x="51387" y="29170"/>
                  <a:pt x="47923" y="2917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2" name="Text 30"/>
          <p:cNvSpPr/>
          <p:nvPr/>
        </p:nvSpPr>
        <p:spPr>
          <a:xfrm>
            <a:off x="6743700" y="4210050"/>
            <a:ext cx="4810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Turnitin model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earn student trust first, then enter the institution.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196013" y="4881563"/>
            <a:ext cx="2743200" cy="733425"/>
          </a:xfrm>
          <a:custGeom>
            <a:avLst/>
            <a:gdLst/>
            <a:ahLst/>
            <a:cxnLst/>
            <a:rect l="l" t="t" r="r" b="b"/>
            <a:pathLst>
              <a:path w="2743200" h="733425">
                <a:moveTo>
                  <a:pt x="76203" y="0"/>
                </a:moveTo>
                <a:lnTo>
                  <a:pt x="2666997" y="0"/>
                </a:lnTo>
                <a:cubicBezTo>
                  <a:pt x="2709055" y="0"/>
                  <a:pt x="2743200" y="34145"/>
                  <a:pt x="2743200" y="76203"/>
                </a:cubicBezTo>
                <a:lnTo>
                  <a:pt x="2743200" y="657222"/>
                </a:lnTo>
                <a:cubicBezTo>
                  <a:pt x="2743200" y="699280"/>
                  <a:pt x="2709055" y="733425"/>
                  <a:pt x="26669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81738" y="5000625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Consumer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6267450" y="5229225"/>
            <a:ext cx="2600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$15/mo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063038" y="4881563"/>
            <a:ext cx="2743200" cy="733425"/>
          </a:xfrm>
          <a:custGeom>
            <a:avLst/>
            <a:gdLst/>
            <a:ahLst/>
            <a:cxnLst/>
            <a:rect l="l" t="t" r="r" b="b"/>
            <a:pathLst>
              <a:path w="2743200" h="733425">
                <a:moveTo>
                  <a:pt x="76203" y="0"/>
                </a:moveTo>
                <a:lnTo>
                  <a:pt x="2666997" y="0"/>
                </a:lnTo>
                <a:cubicBezTo>
                  <a:pt x="2709055" y="0"/>
                  <a:pt x="2743200" y="34145"/>
                  <a:pt x="2743200" y="76203"/>
                </a:cubicBezTo>
                <a:lnTo>
                  <a:pt x="2743200" y="657222"/>
                </a:lnTo>
                <a:cubicBezTo>
                  <a:pt x="2743200" y="699280"/>
                  <a:pt x="2709055" y="733425"/>
                  <a:pt x="2666997" y="733425"/>
                </a:cubicBezTo>
                <a:lnTo>
                  <a:pt x="76203" y="733425"/>
                </a:lnTo>
                <a:cubicBezTo>
                  <a:pt x="34145" y="733425"/>
                  <a:pt x="0" y="699280"/>
                  <a:pt x="0" y="657222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8763" y="5000625"/>
            <a:ext cx="2571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Institutional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9134475" y="5229225"/>
            <a:ext cx="26003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5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 2</a:t>
            </a:r>
            <a:endParaRPr lang="en-US" sz="1600" dirty="0"/>
          </a:p>
        </p:txBody>
      </p:sp>
      <p:pic>
        <p:nvPicPr>
          <p:cNvPr id="39" name="Image 0" descr="https://kimi-img.moonshot.cn/pub/slides/26-03-17-22:00:32-d6slt03fj2j45vb6nn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0975" y="222541"/>
            <a:ext cx="425159" cy="42515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OF FUNDS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£1,000,000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Twelve months of runway. A team and a launch built for this market.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66700" y="2409825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~£596K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00163" y="2005013"/>
            <a:ext cx="7229475" cy="1114425"/>
          </a:xfrm>
          <a:custGeom>
            <a:avLst/>
            <a:gdLst/>
            <a:ahLst/>
            <a:cxnLst/>
            <a:rect l="l" t="t" r="r" b="b"/>
            <a:pathLst>
              <a:path w="7229475" h="1114425">
                <a:moveTo>
                  <a:pt x="114295" y="0"/>
                </a:moveTo>
                <a:lnTo>
                  <a:pt x="7115180" y="0"/>
                </a:lnTo>
                <a:cubicBezTo>
                  <a:pt x="7178261" y="0"/>
                  <a:pt x="7229475" y="51214"/>
                  <a:pt x="7229475" y="114295"/>
                </a:cubicBezTo>
                <a:lnTo>
                  <a:pt x="7229475" y="1000130"/>
                </a:lnTo>
                <a:cubicBezTo>
                  <a:pt x="7229475" y="1063211"/>
                  <a:pt x="7178261" y="1114425"/>
                  <a:pt x="7115180" y="1114425"/>
                </a:cubicBezTo>
                <a:lnTo>
                  <a:pt x="114295" y="1114425"/>
                </a:lnTo>
                <a:cubicBezTo>
                  <a:pt x="51214" y="1114425"/>
                  <a:pt x="0" y="1063211"/>
                  <a:pt x="0" y="10001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457325" y="2162175"/>
            <a:ext cx="7000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Team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457325" y="2466975"/>
            <a:ext cx="12550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hires at £35–60K pa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839819" y="2714625"/>
            <a:ext cx="995373" cy="228600"/>
          </a:xfrm>
          <a:custGeom>
            <a:avLst/>
            <a:gdLst/>
            <a:ahLst/>
            <a:cxnLst/>
            <a:rect l="l" t="t" r="r" b="b"/>
            <a:pathLst>
              <a:path w="995373" h="228600">
                <a:moveTo>
                  <a:pt x="47400" y="0"/>
                </a:moveTo>
                <a:lnTo>
                  <a:pt x="947973" y="0"/>
                </a:lnTo>
                <a:cubicBezTo>
                  <a:pt x="974151" y="0"/>
                  <a:pt x="995373" y="17058"/>
                  <a:pt x="995373" y="38101"/>
                </a:cubicBezTo>
                <a:lnTo>
                  <a:pt x="995373" y="190499"/>
                </a:lnTo>
                <a:cubicBezTo>
                  <a:pt x="995373" y="211542"/>
                  <a:pt x="974151" y="228600"/>
                  <a:pt x="947973" y="228600"/>
                </a:cubicBezTo>
                <a:lnTo>
                  <a:pt x="47400" y="228600"/>
                </a:lnTo>
                <a:cubicBezTo>
                  <a:pt x="21239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21239" y="0"/>
                  <a:pt x="474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839819" y="2714625"/>
            <a:ext cx="995373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AFEE"/>
                </a:solidFill>
                <a:latin typeface="Anthropic Sans, -apple-system, system-ui, Segoe UI, sans-serif" pitchFamily="34" charset="0"/>
                <a:ea typeface="Anthropic Sans, -apple-system, system-ui, Segoe UI, sans-serif" pitchFamily="34" charset="-122"/>
                <a:cs typeface="Anthropic Sans, -apple-system, system-ui, Segoe UI, sans-serif" pitchFamily="34" charset="-120"/>
              </a:rPr>
              <a:t>Developers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66700" y="3533775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~£180K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300163" y="3281363"/>
            <a:ext cx="7229475" cy="809625"/>
          </a:xfrm>
          <a:custGeom>
            <a:avLst/>
            <a:gdLst/>
            <a:ahLst/>
            <a:cxnLst/>
            <a:rect l="l" t="t" r="r" b="b"/>
            <a:pathLst>
              <a:path w="7229475" h="809625">
                <a:moveTo>
                  <a:pt x="114303" y="0"/>
                </a:moveTo>
                <a:lnTo>
                  <a:pt x="7115172" y="0"/>
                </a:lnTo>
                <a:cubicBezTo>
                  <a:pt x="7178258" y="0"/>
                  <a:pt x="7229475" y="51217"/>
                  <a:pt x="7229475" y="114303"/>
                </a:cubicBezTo>
                <a:lnTo>
                  <a:pt x="7229475" y="695322"/>
                </a:lnTo>
                <a:cubicBezTo>
                  <a:pt x="7229475" y="758408"/>
                  <a:pt x="7178258" y="809625"/>
                  <a:pt x="71151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457325" y="3438525"/>
            <a:ext cx="7000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Infrastructure &amp; APIs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57325" y="3743325"/>
            <a:ext cx="698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AWS, LLM API costs, scaling for user 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66700" y="4505325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~£114K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1300163" y="4252913"/>
            <a:ext cx="7229475" cy="809625"/>
          </a:xfrm>
          <a:custGeom>
            <a:avLst/>
            <a:gdLst/>
            <a:ahLst/>
            <a:cxnLst/>
            <a:rect l="l" t="t" r="r" b="b"/>
            <a:pathLst>
              <a:path w="7229475" h="809625">
                <a:moveTo>
                  <a:pt x="114303" y="0"/>
                </a:moveTo>
                <a:lnTo>
                  <a:pt x="7115172" y="0"/>
                </a:lnTo>
                <a:cubicBezTo>
                  <a:pt x="7178258" y="0"/>
                  <a:pt x="7229475" y="51217"/>
                  <a:pt x="7229475" y="114303"/>
                </a:cubicBezTo>
                <a:lnTo>
                  <a:pt x="7229475" y="695322"/>
                </a:lnTo>
                <a:cubicBezTo>
                  <a:pt x="7229475" y="758408"/>
                  <a:pt x="7178258" y="809625"/>
                  <a:pt x="71151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457325" y="4410075"/>
            <a:ext cx="7000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Go-to-market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57325" y="4714875"/>
            <a:ext cx="698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On-campus outreach UK &amp; India, community building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66700" y="5476875"/>
            <a:ext cx="876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10000"/>
              </a:lnSpc>
            </a:pPr>
            <a:r>
              <a:rPr lang="en-US" sz="18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~£80K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1300163" y="5224463"/>
            <a:ext cx="7229475" cy="809625"/>
          </a:xfrm>
          <a:custGeom>
            <a:avLst/>
            <a:gdLst/>
            <a:ahLst/>
            <a:cxnLst/>
            <a:rect l="l" t="t" r="r" b="b"/>
            <a:pathLst>
              <a:path w="7229475" h="809625">
                <a:moveTo>
                  <a:pt x="114303" y="0"/>
                </a:moveTo>
                <a:lnTo>
                  <a:pt x="7115172" y="0"/>
                </a:lnTo>
                <a:cubicBezTo>
                  <a:pt x="7178258" y="0"/>
                  <a:pt x="7229475" y="51217"/>
                  <a:pt x="7229475" y="114303"/>
                </a:cubicBezTo>
                <a:lnTo>
                  <a:pt x="7229475" y="695322"/>
                </a:lnTo>
                <a:cubicBezTo>
                  <a:pt x="7229475" y="758408"/>
                  <a:pt x="7178258" y="809625"/>
                  <a:pt x="7115172" y="809625"/>
                </a:cubicBezTo>
                <a:lnTo>
                  <a:pt x="114303" y="809625"/>
                </a:lnTo>
                <a:cubicBezTo>
                  <a:pt x="51217" y="809625"/>
                  <a:pt x="0" y="758408"/>
                  <a:pt x="0" y="695322"/>
                </a:cubicBezTo>
                <a:lnTo>
                  <a:pt x="0" y="114303"/>
                </a:lnTo>
                <a:cubicBezTo>
                  <a:pt x="0" y="51217"/>
                  <a:pt x="51217" y="0"/>
                  <a:pt x="114303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457325" y="5381625"/>
            <a:ext cx="70008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Legal, ops, contingency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457325" y="5686425"/>
            <a:ext cx="69818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Company ops, compliance, buffer for 12 months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8767763" y="1566468"/>
            <a:ext cx="3038475" cy="2686444"/>
          </a:xfrm>
          <a:custGeom>
            <a:avLst/>
            <a:gdLst/>
            <a:ahLst/>
            <a:cxnLst/>
            <a:rect l="l" t="t" r="r" b="b"/>
            <a:pathLst>
              <a:path w="3038475" h="2686444">
                <a:moveTo>
                  <a:pt x="114291" y="0"/>
                </a:moveTo>
                <a:lnTo>
                  <a:pt x="2924184" y="0"/>
                </a:lnTo>
                <a:cubicBezTo>
                  <a:pt x="2987305" y="0"/>
                  <a:pt x="3038475" y="62748"/>
                  <a:pt x="3038475" y="140152"/>
                </a:cubicBezTo>
                <a:lnTo>
                  <a:pt x="3038475" y="2546292"/>
                </a:lnTo>
                <a:cubicBezTo>
                  <a:pt x="3038475" y="2623696"/>
                  <a:pt x="2987305" y="2686444"/>
                  <a:pt x="2924184" y="2686444"/>
                </a:cubicBezTo>
                <a:lnTo>
                  <a:pt x="114291" y="2686444"/>
                </a:lnTo>
                <a:cubicBezTo>
                  <a:pt x="51170" y="2686444"/>
                  <a:pt x="0" y="2623696"/>
                  <a:pt x="0" y="2546292"/>
                </a:cubicBezTo>
                <a:lnTo>
                  <a:pt x="0" y="140152"/>
                </a:lnTo>
                <a:cubicBezTo>
                  <a:pt x="0" y="62800"/>
                  <a:pt x="51212" y="0"/>
                  <a:pt x="114291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6366F1">
                  <a:alpha val="5000"/>
                </a:srgbClr>
              </a:gs>
            </a:gsLst>
            <a:lin ang="2700000" scaled="1"/>
          </a:gradFill>
          <a:ln w="12700">
            <a:solidFill>
              <a:srgbClr val="6366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922544" y="1895869"/>
            <a:ext cx="214313" cy="17145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107156" y="75009"/>
                </a:moveTo>
                <a:cubicBezTo>
                  <a:pt x="126377" y="75009"/>
                  <a:pt x="141982" y="59404"/>
                  <a:pt x="141982" y="40184"/>
                </a:cubicBezTo>
                <a:cubicBezTo>
                  <a:pt x="141982" y="20963"/>
                  <a:pt x="126377" y="5358"/>
                  <a:pt x="107156" y="5358"/>
                </a:cubicBezTo>
                <a:cubicBezTo>
                  <a:pt x="87935" y="5358"/>
                  <a:pt x="72330" y="20963"/>
                  <a:pt x="72330" y="40184"/>
                </a:cubicBezTo>
                <a:cubicBezTo>
                  <a:pt x="72330" y="59404"/>
                  <a:pt x="87935" y="75009"/>
                  <a:pt x="107156" y="75009"/>
                </a:cubicBezTo>
                <a:close/>
                <a:moveTo>
                  <a:pt x="32147" y="77688"/>
                </a:moveTo>
                <a:cubicBezTo>
                  <a:pt x="45454" y="77688"/>
                  <a:pt x="56257" y="66885"/>
                  <a:pt x="56257" y="53578"/>
                </a:cubicBezTo>
                <a:cubicBezTo>
                  <a:pt x="56257" y="40271"/>
                  <a:pt x="45454" y="29468"/>
                  <a:pt x="32147" y="29468"/>
                </a:cubicBezTo>
                <a:cubicBezTo>
                  <a:pt x="18840" y="29468"/>
                  <a:pt x="8037" y="40271"/>
                  <a:pt x="8037" y="53578"/>
                </a:cubicBezTo>
                <a:cubicBezTo>
                  <a:pt x="8037" y="66885"/>
                  <a:pt x="18840" y="77688"/>
                  <a:pt x="32147" y="77688"/>
                </a:cubicBezTo>
                <a:close/>
                <a:moveTo>
                  <a:pt x="0" y="139303"/>
                </a:moveTo>
                <a:lnTo>
                  <a:pt x="0" y="150019"/>
                </a:lnTo>
                <a:cubicBezTo>
                  <a:pt x="0" y="155946"/>
                  <a:pt x="4789" y="160734"/>
                  <a:pt x="10716" y="160734"/>
                </a:cubicBezTo>
                <a:lnTo>
                  <a:pt x="39748" y="160734"/>
                </a:lnTo>
                <a:cubicBezTo>
                  <a:pt x="38308" y="157453"/>
                  <a:pt x="37505" y="153836"/>
                  <a:pt x="37505" y="150019"/>
                </a:cubicBezTo>
                <a:lnTo>
                  <a:pt x="37505" y="144661"/>
                </a:lnTo>
                <a:cubicBezTo>
                  <a:pt x="37505" y="126846"/>
                  <a:pt x="44202" y="110572"/>
                  <a:pt x="55219" y="98249"/>
                </a:cubicBezTo>
                <a:cubicBezTo>
                  <a:pt x="51301" y="97077"/>
                  <a:pt x="47149" y="96441"/>
                  <a:pt x="42863" y="96441"/>
                </a:cubicBezTo>
                <a:cubicBezTo>
                  <a:pt x="19188" y="96441"/>
                  <a:pt x="0" y="115628"/>
                  <a:pt x="0" y="139303"/>
                </a:cubicBezTo>
                <a:close/>
                <a:moveTo>
                  <a:pt x="206276" y="53578"/>
                </a:moveTo>
                <a:cubicBezTo>
                  <a:pt x="206276" y="40271"/>
                  <a:pt x="195472" y="29468"/>
                  <a:pt x="182166" y="29468"/>
                </a:cubicBezTo>
                <a:cubicBezTo>
                  <a:pt x="168859" y="29468"/>
                  <a:pt x="158055" y="40271"/>
                  <a:pt x="158055" y="53578"/>
                </a:cubicBezTo>
                <a:cubicBezTo>
                  <a:pt x="158055" y="66885"/>
                  <a:pt x="168859" y="77688"/>
                  <a:pt x="182166" y="77688"/>
                </a:cubicBezTo>
                <a:cubicBezTo>
                  <a:pt x="195472" y="77688"/>
                  <a:pt x="206276" y="66885"/>
                  <a:pt x="206276" y="53578"/>
                </a:cubicBezTo>
                <a:close/>
                <a:moveTo>
                  <a:pt x="53578" y="144661"/>
                </a:moveTo>
                <a:lnTo>
                  <a:pt x="53578" y="150019"/>
                </a:lnTo>
                <a:cubicBezTo>
                  <a:pt x="53578" y="155946"/>
                  <a:pt x="58367" y="160734"/>
                  <a:pt x="64294" y="160734"/>
                </a:cubicBezTo>
                <a:lnTo>
                  <a:pt x="116800" y="160734"/>
                </a:lnTo>
                <a:cubicBezTo>
                  <a:pt x="114423" y="153501"/>
                  <a:pt x="114691" y="145866"/>
                  <a:pt x="120383" y="139303"/>
                </a:cubicBezTo>
                <a:cubicBezTo>
                  <a:pt x="115695" y="133878"/>
                  <a:pt x="113519" y="126009"/>
                  <a:pt x="116566" y="118106"/>
                </a:cubicBezTo>
                <a:cubicBezTo>
                  <a:pt x="118776" y="112380"/>
                  <a:pt x="121890" y="107022"/>
                  <a:pt x="125741" y="102267"/>
                </a:cubicBezTo>
                <a:cubicBezTo>
                  <a:pt x="127549" y="100057"/>
                  <a:pt x="129626" y="98349"/>
                  <a:pt x="131869" y="97110"/>
                </a:cubicBezTo>
                <a:cubicBezTo>
                  <a:pt x="124469" y="93259"/>
                  <a:pt x="116064" y="91083"/>
                  <a:pt x="107156" y="91083"/>
                </a:cubicBezTo>
                <a:cubicBezTo>
                  <a:pt x="77554" y="91083"/>
                  <a:pt x="53578" y="115059"/>
                  <a:pt x="53578" y="144661"/>
                </a:cubicBezTo>
                <a:close/>
                <a:moveTo>
                  <a:pt x="209156" y="129893"/>
                </a:moveTo>
                <a:cubicBezTo>
                  <a:pt x="211265" y="128688"/>
                  <a:pt x="212337" y="126176"/>
                  <a:pt x="211433" y="123866"/>
                </a:cubicBezTo>
                <a:cubicBezTo>
                  <a:pt x="209825" y="119714"/>
                  <a:pt x="207582" y="115796"/>
                  <a:pt x="204769" y="112347"/>
                </a:cubicBezTo>
                <a:cubicBezTo>
                  <a:pt x="203229" y="110438"/>
                  <a:pt x="200516" y="110103"/>
                  <a:pt x="198406" y="111342"/>
                </a:cubicBezTo>
                <a:cubicBezTo>
                  <a:pt x="191106" y="115561"/>
                  <a:pt x="182132" y="110404"/>
                  <a:pt x="182132" y="101932"/>
                </a:cubicBezTo>
                <a:cubicBezTo>
                  <a:pt x="182132" y="99488"/>
                  <a:pt x="180491" y="97311"/>
                  <a:pt x="178080" y="96943"/>
                </a:cubicBezTo>
                <a:cubicBezTo>
                  <a:pt x="173761" y="96273"/>
                  <a:pt x="169106" y="96273"/>
                  <a:pt x="164786" y="96943"/>
                </a:cubicBezTo>
                <a:cubicBezTo>
                  <a:pt x="162375" y="97311"/>
                  <a:pt x="160734" y="99488"/>
                  <a:pt x="160734" y="101932"/>
                </a:cubicBezTo>
                <a:cubicBezTo>
                  <a:pt x="160734" y="110371"/>
                  <a:pt x="151760" y="115561"/>
                  <a:pt x="144460" y="111342"/>
                </a:cubicBezTo>
                <a:cubicBezTo>
                  <a:pt x="142350" y="110137"/>
                  <a:pt x="139638" y="110471"/>
                  <a:pt x="138098" y="112347"/>
                </a:cubicBezTo>
                <a:cubicBezTo>
                  <a:pt x="135285" y="115796"/>
                  <a:pt x="133041" y="119714"/>
                  <a:pt x="131434" y="123866"/>
                </a:cubicBezTo>
                <a:cubicBezTo>
                  <a:pt x="130563" y="126143"/>
                  <a:pt x="131601" y="128654"/>
                  <a:pt x="133711" y="129860"/>
                </a:cubicBezTo>
                <a:cubicBezTo>
                  <a:pt x="141044" y="134079"/>
                  <a:pt x="141044" y="144427"/>
                  <a:pt x="133711" y="148679"/>
                </a:cubicBezTo>
                <a:cubicBezTo>
                  <a:pt x="131601" y="149885"/>
                  <a:pt x="130530" y="152396"/>
                  <a:pt x="131434" y="154673"/>
                </a:cubicBezTo>
                <a:cubicBezTo>
                  <a:pt x="133041" y="158826"/>
                  <a:pt x="135285" y="162744"/>
                  <a:pt x="138098" y="166193"/>
                </a:cubicBezTo>
                <a:cubicBezTo>
                  <a:pt x="139638" y="168101"/>
                  <a:pt x="142350" y="168436"/>
                  <a:pt x="144460" y="167197"/>
                </a:cubicBezTo>
                <a:cubicBezTo>
                  <a:pt x="151760" y="162978"/>
                  <a:pt x="160734" y="168168"/>
                  <a:pt x="160734" y="176607"/>
                </a:cubicBezTo>
                <a:cubicBezTo>
                  <a:pt x="160734" y="179051"/>
                  <a:pt x="162375" y="181228"/>
                  <a:pt x="164786" y="181596"/>
                </a:cubicBezTo>
                <a:cubicBezTo>
                  <a:pt x="169106" y="182266"/>
                  <a:pt x="173761" y="182266"/>
                  <a:pt x="178080" y="181596"/>
                </a:cubicBezTo>
                <a:cubicBezTo>
                  <a:pt x="180491" y="181228"/>
                  <a:pt x="182132" y="179051"/>
                  <a:pt x="182132" y="176607"/>
                </a:cubicBezTo>
                <a:cubicBezTo>
                  <a:pt x="182132" y="168168"/>
                  <a:pt x="191106" y="162978"/>
                  <a:pt x="198406" y="167197"/>
                </a:cubicBezTo>
                <a:cubicBezTo>
                  <a:pt x="200516" y="168403"/>
                  <a:pt x="203229" y="168068"/>
                  <a:pt x="204769" y="166193"/>
                </a:cubicBezTo>
                <a:cubicBezTo>
                  <a:pt x="207582" y="162744"/>
                  <a:pt x="209825" y="158826"/>
                  <a:pt x="211433" y="154673"/>
                </a:cubicBezTo>
                <a:cubicBezTo>
                  <a:pt x="212303" y="152396"/>
                  <a:pt x="211265" y="149885"/>
                  <a:pt x="209156" y="148679"/>
                </a:cubicBezTo>
                <a:cubicBezTo>
                  <a:pt x="201822" y="144460"/>
                  <a:pt x="201822" y="134113"/>
                  <a:pt x="209156" y="129860"/>
                </a:cubicBezTo>
                <a:close/>
                <a:moveTo>
                  <a:pt x="158055" y="139303"/>
                </a:moveTo>
                <a:cubicBezTo>
                  <a:pt x="158055" y="131910"/>
                  <a:pt x="164057" y="125909"/>
                  <a:pt x="171450" y="125909"/>
                </a:cubicBezTo>
                <a:cubicBezTo>
                  <a:pt x="178843" y="125909"/>
                  <a:pt x="184845" y="131910"/>
                  <a:pt x="184845" y="139303"/>
                </a:cubicBezTo>
                <a:cubicBezTo>
                  <a:pt x="184845" y="146696"/>
                  <a:pt x="178843" y="152698"/>
                  <a:pt x="171450" y="152698"/>
                </a:cubicBezTo>
                <a:cubicBezTo>
                  <a:pt x="164057" y="152698"/>
                  <a:pt x="158055" y="146696"/>
                  <a:pt x="158055" y="139303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5" name="Text 23"/>
          <p:cNvSpPr/>
          <p:nvPr/>
        </p:nvSpPr>
        <p:spPr>
          <a:xfrm>
            <a:off x="9139238" y="1848244"/>
            <a:ext cx="25146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How the team works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8929688" y="2238375"/>
            <a:ext cx="2714625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AI-native from day one. Every developer works </a:t>
            </a:r>
            <a:pPr>
              <a:lnSpc>
                <a:spcPct val="14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50% human, 50% AI</a:t>
            </a:r>
            <a:pPr>
              <a:lnSpc>
                <a:spcPct val="14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Cursor, Windsurf, MCP tools, vibe coding, Notion.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929688" y="2962275"/>
            <a:ext cx="2714625" cy="1145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8F8F8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Capital allocation is simple: the product is the marketing. We invest heavily in what users experience and deliberately lean on everything else.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767763" y="4505325"/>
            <a:ext cx="3038475" cy="1571625"/>
          </a:xfrm>
          <a:custGeom>
            <a:avLst/>
            <a:gdLst/>
            <a:ahLst/>
            <a:cxnLst/>
            <a:rect l="l" t="t" r="r" b="b"/>
            <a:pathLst>
              <a:path w="3038475" h="1571625">
                <a:moveTo>
                  <a:pt x="114304" y="0"/>
                </a:moveTo>
                <a:lnTo>
                  <a:pt x="2924171" y="0"/>
                </a:lnTo>
                <a:cubicBezTo>
                  <a:pt x="2987299" y="0"/>
                  <a:pt x="3038475" y="51176"/>
                  <a:pt x="3038475" y="114304"/>
                </a:cubicBezTo>
                <a:lnTo>
                  <a:pt x="3038475" y="1457321"/>
                </a:lnTo>
                <a:cubicBezTo>
                  <a:pt x="3038475" y="1520449"/>
                  <a:pt x="2987299" y="1571625"/>
                  <a:pt x="2924171" y="1571625"/>
                </a:cubicBezTo>
                <a:lnTo>
                  <a:pt x="114304" y="1571625"/>
                </a:lnTo>
                <a:cubicBezTo>
                  <a:pt x="51176" y="1571625"/>
                  <a:pt x="0" y="1520449"/>
                  <a:pt x="0" y="1457321"/>
                </a:cubicBezTo>
                <a:lnTo>
                  <a:pt x="0" y="114304"/>
                </a:lnTo>
                <a:cubicBezTo>
                  <a:pt x="0" y="51176"/>
                  <a:pt x="51176" y="0"/>
                  <a:pt x="114304" y="0"/>
                </a:cubicBezTo>
                <a:close/>
              </a:path>
            </a:pathLst>
          </a:custGeom>
          <a:solidFill>
            <a:srgbClr val="26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034463" y="4700588"/>
            <a:ext cx="27336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Timeline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034463" y="511968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1" name="Text 29"/>
          <p:cNvSpPr/>
          <p:nvPr/>
        </p:nvSpPr>
        <p:spPr>
          <a:xfrm>
            <a:off x="9263063" y="5081588"/>
            <a:ext cx="13239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£1M</a:t>
            </a:r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lasts 12+ months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9034463" y="542448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3" name="Text 31"/>
          <p:cNvSpPr/>
          <p:nvPr/>
        </p:nvSpPr>
        <p:spPr>
          <a:xfrm>
            <a:off x="9263063" y="5386388"/>
            <a:ext cx="1714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First revenue within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60 days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034463" y="5729288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5" name="Text 33"/>
          <p:cNvSpPr/>
          <p:nvPr/>
        </p:nvSpPr>
        <p:spPr>
          <a:xfrm>
            <a:off x="9263063" y="5691188"/>
            <a:ext cx="1771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Institutional pipeline </a:t>
            </a:r>
            <a:pPr>
              <a:lnSpc>
                <a:spcPct val="120000"/>
              </a:lnSpc>
            </a:pPr>
            <a:r>
              <a:rPr lang="en-US" sz="10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Month 6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3018678" y="2714625"/>
            <a:ext cx="1367242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AFEE"/>
                </a:solidFill>
                <a:latin typeface="Anthropic Sans, -apple-system, system-ui, Segoe UI, sans-serif" pitchFamily="34" charset="0"/>
                <a:ea typeface="Anthropic Sans, -apple-system, system-ui, Segoe UI, sans-serif" pitchFamily="34" charset="-122"/>
                <a:cs typeface="Anthropic Sans, -apple-system, system-ui, Segoe UI, sans-serif" pitchFamily="34" charset="-120"/>
              </a:rPr>
              <a:t>Cybersecurity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3018678" y="2714625"/>
            <a:ext cx="1129470" cy="228600"/>
          </a:xfrm>
          <a:custGeom>
            <a:avLst/>
            <a:gdLst/>
            <a:ahLst/>
            <a:cxnLst/>
            <a:rect l="l" t="t" r="r" b="b"/>
            <a:pathLst>
              <a:path w="1129470" h="228600">
                <a:moveTo>
                  <a:pt x="53785" y="0"/>
                </a:moveTo>
                <a:lnTo>
                  <a:pt x="1075685" y="0"/>
                </a:lnTo>
                <a:cubicBezTo>
                  <a:pt x="1105389" y="0"/>
                  <a:pt x="1129470" y="17058"/>
                  <a:pt x="1129470" y="38101"/>
                </a:cubicBezTo>
                <a:lnTo>
                  <a:pt x="1129470" y="190499"/>
                </a:lnTo>
                <a:cubicBezTo>
                  <a:pt x="1129470" y="211542"/>
                  <a:pt x="1105389" y="228600"/>
                  <a:pt x="1075685" y="228600"/>
                </a:cubicBezTo>
                <a:lnTo>
                  <a:pt x="53785" y="228600"/>
                </a:lnTo>
                <a:cubicBezTo>
                  <a:pt x="24100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24100" y="0"/>
                  <a:pt x="53785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4231279" y="2714625"/>
            <a:ext cx="1367242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AFEE"/>
                </a:solidFill>
                <a:latin typeface="Anthropic Sans, -apple-system, system-ui, Segoe UI, sans-serif" pitchFamily="34" charset="0"/>
                <a:ea typeface="Anthropic Sans, -apple-system, system-ui, Segoe UI, sans-serif" pitchFamily="34" charset="-122"/>
                <a:cs typeface="Anthropic Sans, -apple-system, system-ui, Segoe UI, sans-serif" pitchFamily="34" charset="-120"/>
              </a:rPr>
              <a:t>Analysts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5123267" y="2714625"/>
            <a:ext cx="1367242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AFEE"/>
                </a:solidFill>
                <a:latin typeface="Anthropic Sans, -apple-system, system-ui, Segoe UI, sans-serif" pitchFamily="34" charset="0"/>
                <a:ea typeface="Anthropic Sans, -apple-system, system-ui, Segoe UI, sans-serif" pitchFamily="34" charset="-122"/>
                <a:cs typeface="Anthropic Sans, -apple-system, system-ui, Segoe UI, sans-serif" pitchFamily="34" charset="-120"/>
              </a:rPr>
              <a:t>Marketing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181725" y="2714625"/>
            <a:ext cx="1367242" cy="228600"/>
          </a:xfrm>
          <a:prstGeom prst="rect">
            <a:avLst/>
          </a:prstGeom>
          <a:noFill/>
          <a:ln/>
        </p:spPr>
        <p:txBody>
          <a:bodyPr wrap="square" lIns="76200" tIns="38100" rIns="76200" bIns="38100" rtlCol="0" anchor="ctr"/>
          <a:lstStyle/>
          <a:p>
            <a:pPr>
              <a:lnSpc>
                <a:spcPct val="110000"/>
              </a:lnSpc>
            </a:pPr>
            <a:r>
              <a:rPr lang="en-US" sz="1200" dirty="0">
                <a:solidFill>
                  <a:srgbClr val="00AFEE"/>
                </a:solidFill>
                <a:latin typeface="Anthropic Sans, -apple-system, system-ui, Segoe UI, sans-serif" pitchFamily="34" charset="0"/>
                <a:ea typeface="Anthropic Sans, -apple-system, system-ui, Segoe UI, sans-serif" pitchFamily="34" charset="-122"/>
                <a:cs typeface="Anthropic Sans, -apple-system, system-ui, Segoe UI, sans-serif" pitchFamily="34" charset="-120"/>
              </a:rPr>
              <a:t>Finance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6181725" y="2733675"/>
            <a:ext cx="693852" cy="228600"/>
          </a:xfrm>
          <a:custGeom>
            <a:avLst/>
            <a:gdLst/>
            <a:ahLst/>
            <a:cxnLst/>
            <a:rect l="l" t="t" r="r" b="b"/>
            <a:pathLst>
              <a:path w="693852" h="228600">
                <a:moveTo>
                  <a:pt x="33041" y="0"/>
                </a:moveTo>
                <a:lnTo>
                  <a:pt x="660810" y="0"/>
                </a:lnTo>
                <a:cubicBezTo>
                  <a:pt x="679059" y="0"/>
                  <a:pt x="693852" y="17058"/>
                  <a:pt x="693852" y="38101"/>
                </a:cubicBezTo>
                <a:lnTo>
                  <a:pt x="693852" y="190499"/>
                </a:lnTo>
                <a:cubicBezTo>
                  <a:pt x="693852" y="211542"/>
                  <a:pt x="679059" y="228600"/>
                  <a:pt x="660810" y="228600"/>
                </a:cubicBezTo>
                <a:lnTo>
                  <a:pt x="33041" y="228600"/>
                </a:lnTo>
                <a:cubicBezTo>
                  <a:pt x="14805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4805" y="0"/>
                  <a:pt x="3304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4231279" y="2714625"/>
            <a:ext cx="800100" cy="228600"/>
          </a:xfrm>
          <a:custGeom>
            <a:avLst/>
            <a:gdLst/>
            <a:ahLst/>
            <a:cxnLst/>
            <a:rect l="l" t="t" r="r" b="b"/>
            <a:pathLst>
              <a:path w="800100" h="228600">
                <a:moveTo>
                  <a:pt x="38101" y="0"/>
                </a:moveTo>
                <a:lnTo>
                  <a:pt x="761999" y="0"/>
                </a:lnTo>
                <a:cubicBezTo>
                  <a:pt x="783042" y="0"/>
                  <a:pt x="800100" y="17058"/>
                  <a:pt x="800100" y="38101"/>
                </a:cubicBezTo>
                <a:lnTo>
                  <a:pt x="800100" y="190499"/>
                </a:lnTo>
                <a:cubicBezTo>
                  <a:pt x="800100" y="211542"/>
                  <a:pt x="783042" y="228600"/>
                  <a:pt x="761999" y="228600"/>
                </a:cubicBezTo>
                <a:lnTo>
                  <a:pt x="38101" y="228600"/>
                </a:lnTo>
                <a:cubicBezTo>
                  <a:pt x="17072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7072" y="0"/>
                  <a:pt x="3810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5134722" y="2714625"/>
            <a:ext cx="853224" cy="228600"/>
          </a:xfrm>
          <a:custGeom>
            <a:avLst/>
            <a:gdLst/>
            <a:ahLst/>
            <a:cxnLst/>
            <a:rect l="l" t="t" r="r" b="b"/>
            <a:pathLst>
              <a:path w="853224" h="228600">
                <a:moveTo>
                  <a:pt x="40631" y="0"/>
                </a:moveTo>
                <a:lnTo>
                  <a:pt x="812594" y="0"/>
                </a:lnTo>
                <a:cubicBezTo>
                  <a:pt x="835033" y="0"/>
                  <a:pt x="853224" y="17058"/>
                  <a:pt x="853224" y="38101"/>
                </a:cubicBezTo>
                <a:lnTo>
                  <a:pt x="853224" y="190499"/>
                </a:lnTo>
                <a:cubicBezTo>
                  <a:pt x="853224" y="211542"/>
                  <a:pt x="835033" y="228600"/>
                  <a:pt x="812594" y="228600"/>
                </a:cubicBezTo>
                <a:lnTo>
                  <a:pt x="40631" y="228600"/>
                </a:lnTo>
                <a:cubicBezTo>
                  <a:pt x="18206" y="228600"/>
                  <a:pt x="0" y="211528"/>
                  <a:pt x="0" y="190499"/>
                </a:cubicBezTo>
                <a:lnTo>
                  <a:pt x="0" y="38101"/>
                </a:lnTo>
                <a:cubicBezTo>
                  <a:pt x="0" y="17072"/>
                  <a:pt x="18206" y="0"/>
                  <a:pt x="40631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12456044" y="3827431"/>
            <a:ext cx="2124967" cy="2692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333333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  <p:pic>
        <p:nvPicPr>
          <p:cNvPr id="45" name="Image 0" descr="https://kimi-img.moonshot.cn/pub/slides/26-03-17-22:00:32-d6slt03fj2j45vb6nnp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10975" y="222541"/>
            <a:ext cx="425159" cy="42515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thumbs.dreamstime.com/b35b8d0f37b4eb2824d898612d08b75ea741ce6f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111" r="111" t="0" b="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90000"/>
                </a:srgbClr>
              </a:gs>
              <a:gs pos="100000">
                <a:srgbClr val="6366F1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spc="105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FOUNDER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Sumedh Patil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1104900"/>
            <a:ext cx="11525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Founder, Aipresso Private Limited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5763" y="1604963"/>
            <a:ext cx="5591175" cy="4524375"/>
          </a:xfrm>
          <a:custGeom>
            <a:avLst/>
            <a:gdLst/>
            <a:ahLst/>
            <a:cxnLst/>
            <a:rect l="l" t="t" r="r" b="b"/>
            <a:pathLst>
              <a:path w="5591175" h="4524375">
                <a:moveTo>
                  <a:pt x="114286" y="0"/>
                </a:moveTo>
                <a:lnTo>
                  <a:pt x="5476889" y="0"/>
                </a:lnTo>
                <a:cubicBezTo>
                  <a:pt x="5539965" y="0"/>
                  <a:pt x="5591175" y="51210"/>
                  <a:pt x="5591175" y="114286"/>
                </a:cubicBezTo>
                <a:lnTo>
                  <a:pt x="5591175" y="4410089"/>
                </a:lnTo>
                <a:cubicBezTo>
                  <a:pt x="5591175" y="4473208"/>
                  <a:pt x="5540008" y="4524375"/>
                  <a:pt x="5476889" y="4524375"/>
                </a:cubicBezTo>
                <a:lnTo>
                  <a:pt x="114286" y="4524375"/>
                </a:lnTo>
                <a:cubicBezTo>
                  <a:pt x="51167" y="4524375"/>
                  <a:pt x="0" y="4473208"/>
                  <a:pt x="0" y="4410089"/>
                </a:cubicBezTo>
                <a:lnTo>
                  <a:pt x="0" y="114286"/>
                </a:lnTo>
                <a:cubicBezTo>
                  <a:pt x="0" y="51167"/>
                  <a:pt x="51167" y="0"/>
                  <a:pt x="114286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19125" y="18383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9" name="Shape 6"/>
          <p:cNvSpPr/>
          <p:nvPr/>
        </p:nvSpPr>
        <p:spPr>
          <a:xfrm>
            <a:off x="723900" y="1952625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7394" y="357"/>
                </a:moveTo>
                <a:cubicBezTo>
                  <a:pt x="102334" y="-1101"/>
                  <a:pt x="97066" y="1845"/>
                  <a:pt x="95607" y="6906"/>
                </a:cubicBezTo>
                <a:lnTo>
                  <a:pt x="57507" y="140256"/>
                </a:lnTo>
                <a:cubicBezTo>
                  <a:pt x="56049" y="145316"/>
                  <a:pt x="58995" y="150584"/>
                  <a:pt x="64056" y="152043"/>
                </a:cubicBezTo>
                <a:cubicBezTo>
                  <a:pt x="69116" y="153501"/>
                  <a:pt x="74384" y="150555"/>
                  <a:pt x="75843" y="145494"/>
                </a:cubicBezTo>
                <a:lnTo>
                  <a:pt x="113943" y="12144"/>
                </a:lnTo>
                <a:cubicBezTo>
                  <a:pt x="115401" y="7084"/>
                  <a:pt x="112455" y="1816"/>
                  <a:pt x="107394" y="357"/>
                </a:cubicBezTo>
                <a:close/>
                <a:moveTo>
                  <a:pt x="126623" y="40868"/>
                </a:moveTo>
                <a:cubicBezTo>
                  <a:pt x="122902" y="44589"/>
                  <a:pt x="122902" y="50631"/>
                  <a:pt x="126623" y="54352"/>
                </a:cubicBezTo>
                <a:lnTo>
                  <a:pt x="148471" y="76200"/>
                </a:lnTo>
                <a:lnTo>
                  <a:pt x="126623" y="98048"/>
                </a:lnTo>
                <a:cubicBezTo>
                  <a:pt x="122902" y="101769"/>
                  <a:pt x="122902" y="107811"/>
                  <a:pt x="126623" y="111532"/>
                </a:cubicBezTo>
                <a:cubicBezTo>
                  <a:pt x="130344" y="115253"/>
                  <a:pt x="136386" y="115253"/>
                  <a:pt x="140107" y="111532"/>
                </a:cubicBezTo>
                <a:lnTo>
                  <a:pt x="168682" y="82957"/>
                </a:lnTo>
                <a:cubicBezTo>
                  <a:pt x="172403" y="79236"/>
                  <a:pt x="172403" y="73194"/>
                  <a:pt x="168682" y="69473"/>
                </a:cubicBezTo>
                <a:lnTo>
                  <a:pt x="140107" y="40898"/>
                </a:lnTo>
                <a:cubicBezTo>
                  <a:pt x="136386" y="37177"/>
                  <a:pt x="130344" y="37177"/>
                  <a:pt x="126623" y="40898"/>
                </a:cubicBezTo>
                <a:close/>
                <a:moveTo>
                  <a:pt x="44857" y="40868"/>
                </a:moveTo>
                <a:cubicBezTo>
                  <a:pt x="41136" y="37147"/>
                  <a:pt x="35094" y="37147"/>
                  <a:pt x="31373" y="40868"/>
                </a:cubicBezTo>
                <a:lnTo>
                  <a:pt x="2798" y="69443"/>
                </a:lnTo>
                <a:cubicBezTo>
                  <a:pt x="-923" y="73164"/>
                  <a:pt x="-923" y="79206"/>
                  <a:pt x="2798" y="82927"/>
                </a:cubicBezTo>
                <a:lnTo>
                  <a:pt x="31373" y="111502"/>
                </a:lnTo>
                <a:cubicBezTo>
                  <a:pt x="35094" y="115223"/>
                  <a:pt x="41136" y="115223"/>
                  <a:pt x="44857" y="111502"/>
                </a:cubicBezTo>
                <a:cubicBezTo>
                  <a:pt x="48578" y="107781"/>
                  <a:pt x="48578" y="101739"/>
                  <a:pt x="44857" y="98018"/>
                </a:cubicBezTo>
                <a:lnTo>
                  <a:pt x="23009" y="76200"/>
                </a:lnTo>
                <a:lnTo>
                  <a:pt x="44827" y="54352"/>
                </a:lnTo>
                <a:cubicBezTo>
                  <a:pt x="48548" y="50631"/>
                  <a:pt x="48548" y="44589"/>
                  <a:pt x="44827" y="40868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0" name="Text 7"/>
          <p:cNvSpPr/>
          <p:nvPr/>
        </p:nvSpPr>
        <p:spPr>
          <a:xfrm>
            <a:off x="1114425" y="1895475"/>
            <a:ext cx="38385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was built — alone — in under 12 months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38175" y="24098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923925" y="2371725"/>
            <a:ext cx="2800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Seven production-ready AI learning tools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38175" y="27527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4" name="Text 11"/>
          <p:cNvSpPr/>
          <p:nvPr/>
        </p:nvSpPr>
        <p:spPr>
          <a:xfrm>
            <a:off x="923925" y="2714625"/>
            <a:ext cx="40767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 proprietary personalisation and learner intelligence engine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38175" y="30956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923925" y="3057525"/>
            <a:ext cx="26098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cloud infrastructure built in-house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14363" y="3438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18" name="Text 15"/>
          <p:cNvSpPr/>
          <p:nvPr/>
        </p:nvSpPr>
        <p:spPr>
          <a:xfrm>
            <a:off x="872207" y="3400425"/>
            <a:ext cx="49434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96 public repositories</a:t>
            </a:r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custom Python libraries, LLM builds, security projects, systems architecture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638175" y="40100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152400"/>
                </a:moveTo>
                <a:cubicBezTo>
                  <a:pt x="118256" y="152400"/>
                  <a:pt x="152400" y="118256"/>
                  <a:pt x="152400" y="76200"/>
                </a:cubicBezTo>
                <a:cubicBezTo>
                  <a:pt x="152400" y="34144"/>
                  <a:pt x="118256" y="0"/>
                  <a:pt x="76200" y="0"/>
                </a:cubicBezTo>
                <a:cubicBezTo>
                  <a:pt x="34144" y="0"/>
                  <a:pt x="0" y="34144"/>
                  <a:pt x="0" y="76200"/>
                </a:cubicBezTo>
                <a:cubicBezTo>
                  <a:pt x="0" y="118256"/>
                  <a:pt x="34144" y="152400"/>
                  <a:pt x="76200" y="152400"/>
                </a:cubicBezTo>
                <a:close/>
                <a:moveTo>
                  <a:pt x="101322" y="63311"/>
                </a:moveTo>
                <a:lnTo>
                  <a:pt x="77510" y="101411"/>
                </a:lnTo>
                <a:cubicBezTo>
                  <a:pt x="76260" y="103406"/>
                  <a:pt x="74116" y="104656"/>
                  <a:pt x="71765" y="104775"/>
                </a:cubicBezTo>
                <a:cubicBezTo>
                  <a:pt x="69413" y="104894"/>
                  <a:pt x="67151" y="103823"/>
                  <a:pt x="65752" y="101918"/>
                </a:cubicBezTo>
                <a:lnTo>
                  <a:pt x="51465" y="82867"/>
                </a:lnTo>
                <a:cubicBezTo>
                  <a:pt x="49084" y="79712"/>
                  <a:pt x="49738" y="75248"/>
                  <a:pt x="52894" y="72866"/>
                </a:cubicBezTo>
                <a:cubicBezTo>
                  <a:pt x="56049" y="70485"/>
                  <a:pt x="60514" y="71140"/>
                  <a:pt x="62895" y="74295"/>
                </a:cubicBezTo>
                <a:lnTo>
                  <a:pt x="70931" y="85011"/>
                </a:lnTo>
                <a:lnTo>
                  <a:pt x="89208" y="55751"/>
                </a:lnTo>
                <a:cubicBezTo>
                  <a:pt x="91291" y="52417"/>
                  <a:pt x="95696" y="51375"/>
                  <a:pt x="99060" y="53489"/>
                </a:cubicBezTo>
                <a:cubicBezTo>
                  <a:pt x="102424" y="55602"/>
                  <a:pt x="103436" y="59978"/>
                  <a:pt x="101322" y="63341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0" name="Text 17"/>
          <p:cNvSpPr/>
          <p:nvPr/>
        </p:nvSpPr>
        <p:spPr>
          <a:xfrm>
            <a:off x="923925" y="3971925"/>
            <a:ext cx="3771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Every layer designed, built, and deployed by one person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6215063" y="1604963"/>
            <a:ext cx="5591175" cy="1800225"/>
          </a:xfrm>
          <a:custGeom>
            <a:avLst/>
            <a:gdLst/>
            <a:ahLst/>
            <a:cxnLst/>
            <a:rect l="l" t="t" r="r" b="b"/>
            <a:pathLst>
              <a:path w="5591175" h="1800225">
                <a:moveTo>
                  <a:pt x="114296" y="0"/>
                </a:moveTo>
                <a:lnTo>
                  <a:pt x="5476879" y="0"/>
                </a:lnTo>
                <a:cubicBezTo>
                  <a:pt x="5539961" y="0"/>
                  <a:pt x="5591175" y="51214"/>
                  <a:pt x="5591175" y="114296"/>
                </a:cubicBezTo>
                <a:lnTo>
                  <a:pt x="5591175" y="1685929"/>
                </a:lnTo>
                <a:cubicBezTo>
                  <a:pt x="5591175" y="1749011"/>
                  <a:pt x="5539961" y="1800225"/>
                  <a:pt x="5476879" y="1800225"/>
                </a:cubicBezTo>
                <a:lnTo>
                  <a:pt x="114296" y="1800225"/>
                </a:lnTo>
                <a:cubicBezTo>
                  <a:pt x="51214" y="1800225"/>
                  <a:pt x="0" y="1749011"/>
                  <a:pt x="0" y="1685929"/>
                </a:cubicBezTo>
                <a:lnTo>
                  <a:pt x="0" y="114296"/>
                </a:lnTo>
                <a:cubicBezTo>
                  <a:pt x="0" y="51214"/>
                  <a:pt x="51214" y="0"/>
                  <a:pt x="114296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410325" y="18002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6366F1">
              <a:alpha val="20000"/>
            </a:srgbClr>
          </a:solidFill>
          <a:ln/>
        </p:spPr>
      </p:sp>
      <p:sp>
        <p:nvSpPr>
          <p:cNvPr id="23" name="Shape 20"/>
          <p:cNvSpPr/>
          <p:nvPr/>
        </p:nvSpPr>
        <p:spPr>
          <a:xfrm>
            <a:off x="6524625" y="1914525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1"/>
          <p:cNvSpPr/>
          <p:nvPr/>
        </p:nvSpPr>
        <p:spPr>
          <a:xfrm>
            <a:off x="6905625" y="1857375"/>
            <a:ext cx="25527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Technical depth across the stack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6410325" y="2295525"/>
            <a:ext cx="1362075" cy="266700"/>
          </a:xfrm>
          <a:custGeom>
            <a:avLst/>
            <a:gdLst/>
            <a:ahLst/>
            <a:cxnLst/>
            <a:rect l="l" t="t" r="r" b="b"/>
            <a:pathLst>
              <a:path w="1362075" h="266700">
                <a:moveTo>
                  <a:pt x="133350" y="0"/>
                </a:moveTo>
                <a:lnTo>
                  <a:pt x="1228725" y="0"/>
                </a:lnTo>
                <a:cubicBezTo>
                  <a:pt x="1302323" y="0"/>
                  <a:pt x="1362075" y="59752"/>
                  <a:pt x="1362075" y="133350"/>
                </a:cubicBezTo>
                <a:lnTo>
                  <a:pt x="1362075" y="133350"/>
                </a:lnTo>
                <a:cubicBezTo>
                  <a:pt x="1362075" y="206948"/>
                  <a:pt x="1302323" y="266700"/>
                  <a:pt x="12287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26" name="Text 23"/>
          <p:cNvSpPr/>
          <p:nvPr/>
        </p:nvSpPr>
        <p:spPr>
          <a:xfrm>
            <a:off x="6410325" y="2295525"/>
            <a:ext cx="14287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AWS infrastructure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7845549" y="2295525"/>
            <a:ext cx="942975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133350" y="0"/>
                </a:moveTo>
                <a:lnTo>
                  <a:pt x="809625" y="0"/>
                </a:lnTo>
                <a:cubicBezTo>
                  <a:pt x="883223" y="0"/>
                  <a:pt x="942975" y="59752"/>
                  <a:pt x="942975" y="133350"/>
                </a:cubicBezTo>
                <a:lnTo>
                  <a:pt x="942975" y="133350"/>
                </a:lnTo>
                <a:cubicBezTo>
                  <a:pt x="942975" y="206948"/>
                  <a:pt x="883223" y="266700"/>
                  <a:pt x="8096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28" name="Text 25"/>
          <p:cNvSpPr/>
          <p:nvPr/>
        </p:nvSpPr>
        <p:spPr>
          <a:xfrm>
            <a:off x="7845549" y="2295525"/>
            <a:ext cx="1009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PostgreSQL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863682" y="2295525"/>
            <a:ext cx="752475" cy="266700"/>
          </a:xfrm>
          <a:custGeom>
            <a:avLst/>
            <a:gdLst/>
            <a:ahLst/>
            <a:cxnLst/>
            <a:rect l="l" t="t" r="r" b="b"/>
            <a:pathLst>
              <a:path w="752475" h="266700">
                <a:moveTo>
                  <a:pt x="133350" y="0"/>
                </a:moveTo>
                <a:lnTo>
                  <a:pt x="619125" y="0"/>
                </a:lnTo>
                <a:cubicBezTo>
                  <a:pt x="692723" y="0"/>
                  <a:pt x="752475" y="59752"/>
                  <a:pt x="752475" y="133350"/>
                </a:cubicBezTo>
                <a:lnTo>
                  <a:pt x="752475" y="133350"/>
                </a:lnTo>
                <a:cubicBezTo>
                  <a:pt x="752475" y="206948"/>
                  <a:pt x="692723" y="266700"/>
                  <a:pt x="6191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30" name="Text 27"/>
          <p:cNvSpPr/>
          <p:nvPr/>
        </p:nvSpPr>
        <p:spPr>
          <a:xfrm>
            <a:off x="8863682" y="2295525"/>
            <a:ext cx="8191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Firestore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9694441" y="2295525"/>
            <a:ext cx="561975" cy="266700"/>
          </a:xfrm>
          <a:custGeom>
            <a:avLst/>
            <a:gdLst/>
            <a:ahLst/>
            <a:cxnLst/>
            <a:rect l="l" t="t" r="r" b="b"/>
            <a:pathLst>
              <a:path w="561975" h="266700">
                <a:moveTo>
                  <a:pt x="133350" y="0"/>
                </a:moveTo>
                <a:lnTo>
                  <a:pt x="428625" y="0"/>
                </a:lnTo>
                <a:cubicBezTo>
                  <a:pt x="502223" y="0"/>
                  <a:pt x="561975" y="59752"/>
                  <a:pt x="561975" y="133350"/>
                </a:cubicBezTo>
                <a:lnTo>
                  <a:pt x="561975" y="133350"/>
                </a:lnTo>
                <a:cubicBezTo>
                  <a:pt x="561975" y="206948"/>
                  <a:pt x="502223" y="266700"/>
                  <a:pt x="4286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32" name="Text 29"/>
          <p:cNvSpPr/>
          <p:nvPr/>
        </p:nvSpPr>
        <p:spPr>
          <a:xfrm>
            <a:off x="9694441" y="2295525"/>
            <a:ext cx="628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0337155" y="2295525"/>
            <a:ext cx="1143000" cy="266700"/>
          </a:xfrm>
          <a:custGeom>
            <a:avLst/>
            <a:gdLst/>
            <a:ahLst/>
            <a:cxnLst/>
            <a:rect l="l" t="t" r="r" b="b"/>
            <a:pathLst>
              <a:path w="1143000" h="266700">
                <a:moveTo>
                  <a:pt x="133350" y="0"/>
                </a:moveTo>
                <a:lnTo>
                  <a:pt x="1009650" y="0"/>
                </a:lnTo>
                <a:cubicBezTo>
                  <a:pt x="1083248" y="0"/>
                  <a:pt x="1143000" y="59752"/>
                  <a:pt x="1143000" y="133350"/>
                </a:cubicBezTo>
                <a:lnTo>
                  <a:pt x="1143000" y="133350"/>
                </a:lnTo>
                <a:cubicBezTo>
                  <a:pt x="1143000" y="206948"/>
                  <a:pt x="1083248" y="266700"/>
                  <a:pt x="1009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34" name="Text 31"/>
          <p:cNvSpPr/>
          <p:nvPr/>
        </p:nvSpPr>
        <p:spPr>
          <a:xfrm>
            <a:off x="10337155" y="2295525"/>
            <a:ext cx="1209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Python libraries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6410325" y="2638425"/>
            <a:ext cx="971550" cy="266700"/>
          </a:xfrm>
          <a:custGeom>
            <a:avLst/>
            <a:gdLst/>
            <a:ahLst/>
            <a:cxnLst/>
            <a:rect l="l" t="t" r="r" b="b"/>
            <a:pathLst>
              <a:path w="971550" h="266700">
                <a:moveTo>
                  <a:pt x="133350" y="0"/>
                </a:moveTo>
                <a:lnTo>
                  <a:pt x="838200" y="0"/>
                </a:lnTo>
                <a:cubicBezTo>
                  <a:pt x="911798" y="0"/>
                  <a:pt x="971550" y="59752"/>
                  <a:pt x="971550" y="133350"/>
                </a:cubicBezTo>
                <a:lnTo>
                  <a:pt x="971550" y="133350"/>
                </a:lnTo>
                <a:cubicBezTo>
                  <a:pt x="971550" y="206948"/>
                  <a:pt x="911798" y="266700"/>
                  <a:pt x="8382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36" name="Text 33"/>
          <p:cNvSpPr/>
          <p:nvPr/>
        </p:nvSpPr>
        <p:spPr>
          <a:xfrm>
            <a:off x="6410325" y="2638425"/>
            <a:ext cx="10382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LLM training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7454578" y="2638425"/>
            <a:ext cx="685800" cy="266700"/>
          </a:xfrm>
          <a:custGeom>
            <a:avLst/>
            <a:gdLst/>
            <a:ahLst/>
            <a:cxnLst/>
            <a:rect l="l" t="t" r="r" b="b"/>
            <a:pathLst>
              <a:path w="685800" h="266700">
                <a:moveTo>
                  <a:pt x="133350" y="0"/>
                </a:moveTo>
                <a:lnTo>
                  <a:pt x="552450" y="0"/>
                </a:lnTo>
                <a:cubicBezTo>
                  <a:pt x="626048" y="0"/>
                  <a:pt x="685800" y="59752"/>
                  <a:pt x="685800" y="133350"/>
                </a:cubicBezTo>
                <a:lnTo>
                  <a:pt x="685800" y="133350"/>
                </a:lnTo>
                <a:cubicBezTo>
                  <a:pt x="685800" y="206948"/>
                  <a:pt x="626048" y="266700"/>
                  <a:pt x="5524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333333"/>
          </a:solidFill>
          <a:ln/>
        </p:spPr>
      </p:sp>
      <p:sp>
        <p:nvSpPr>
          <p:cNvPr id="38" name="Text 35"/>
          <p:cNvSpPr/>
          <p:nvPr/>
        </p:nvSpPr>
        <p:spPr>
          <a:xfrm>
            <a:off x="7454578" y="2638425"/>
            <a:ext cx="7524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Blender</a:t>
            </a:r>
            <a:endParaRPr lang="en-US" sz="1600" dirty="0"/>
          </a:p>
        </p:txBody>
      </p:sp>
      <p:sp>
        <p:nvSpPr>
          <p:cNvPr id="39" name="Shape 36"/>
          <p:cNvSpPr/>
          <p:nvPr/>
        </p:nvSpPr>
        <p:spPr>
          <a:xfrm>
            <a:off x="8211889" y="2638425"/>
            <a:ext cx="1257300" cy="266700"/>
          </a:xfrm>
          <a:custGeom>
            <a:avLst/>
            <a:gdLst/>
            <a:ahLst/>
            <a:cxnLst/>
            <a:rect l="l" t="t" r="r" b="b"/>
            <a:pathLst>
              <a:path w="1257300" h="266700">
                <a:moveTo>
                  <a:pt x="133350" y="0"/>
                </a:moveTo>
                <a:lnTo>
                  <a:pt x="1123950" y="0"/>
                </a:lnTo>
                <a:cubicBezTo>
                  <a:pt x="1197548" y="0"/>
                  <a:pt x="1257300" y="59752"/>
                  <a:pt x="1257300" y="133350"/>
                </a:cubicBezTo>
                <a:lnTo>
                  <a:pt x="1257300" y="133350"/>
                </a:lnTo>
                <a:cubicBezTo>
                  <a:pt x="1257300" y="206948"/>
                  <a:pt x="1197548" y="266700"/>
                  <a:pt x="11239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6366F1">
              <a:alpha val="30196"/>
            </a:srgbClr>
          </a:solidFill>
          <a:ln/>
        </p:spPr>
      </p:sp>
      <p:sp>
        <p:nvSpPr>
          <p:cNvPr id="40" name="Text 37"/>
          <p:cNvSpPr/>
          <p:nvPr/>
        </p:nvSpPr>
        <p:spPr>
          <a:xfrm>
            <a:off x="8211889" y="2638425"/>
            <a:ext cx="13239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05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108 GitHub repos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6410325" y="3019425"/>
            <a:ext cx="52673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agency. No co-founder. No shortcuts.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6229350" y="3562350"/>
            <a:ext cx="5581650" cy="1714500"/>
          </a:xfrm>
          <a:custGeom>
            <a:avLst/>
            <a:gdLst/>
            <a:ahLst/>
            <a:cxnLst/>
            <a:rect l="l" t="t" r="r" b="b"/>
            <a:pathLst>
              <a:path w="5581650" h="1714500">
                <a:moveTo>
                  <a:pt x="0" y="0"/>
                </a:moveTo>
                <a:lnTo>
                  <a:pt x="5467344" y="0"/>
                </a:lnTo>
                <a:cubicBezTo>
                  <a:pt x="5530474" y="0"/>
                  <a:pt x="5581650" y="51176"/>
                  <a:pt x="5581650" y="114306"/>
                </a:cubicBezTo>
                <a:lnTo>
                  <a:pt x="5581650" y="1600194"/>
                </a:lnTo>
                <a:cubicBezTo>
                  <a:pt x="5581650" y="1663324"/>
                  <a:pt x="5530474" y="1714500"/>
                  <a:pt x="5467344" y="1714500"/>
                </a:cubicBez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/>
        </p:spPr>
      </p:sp>
      <p:sp>
        <p:nvSpPr>
          <p:cNvPr id="43" name="Shape 40"/>
          <p:cNvSpPr/>
          <p:nvPr/>
        </p:nvSpPr>
        <p:spPr>
          <a:xfrm>
            <a:off x="6229350" y="3562350"/>
            <a:ext cx="38100" cy="1714500"/>
          </a:xfrm>
          <a:custGeom>
            <a:avLst/>
            <a:gdLst/>
            <a:ahLst/>
            <a:cxnLst/>
            <a:rect l="l" t="t" r="r" b="b"/>
            <a:pathLst>
              <a:path w="38100" h="1714500">
                <a:moveTo>
                  <a:pt x="0" y="0"/>
                </a:moveTo>
                <a:lnTo>
                  <a:pt x="38100" y="0"/>
                </a:lnTo>
                <a:lnTo>
                  <a:pt x="38100" y="1714500"/>
                </a:lnTo>
                <a:lnTo>
                  <a:pt x="0" y="1714500"/>
                </a:lnTo>
                <a:lnTo>
                  <a:pt x="0" y="0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4" name="Shape 41"/>
          <p:cNvSpPr/>
          <p:nvPr/>
        </p:nvSpPr>
        <p:spPr>
          <a:xfrm>
            <a:off x="6451997" y="3800475"/>
            <a:ext cx="192881" cy="171450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103640" y="-6329"/>
                </a:moveTo>
                <a:cubicBezTo>
                  <a:pt x="102267" y="-9008"/>
                  <a:pt x="99488" y="-10716"/>
                  <a:pt x="96474" y="-10716"/>
                </a:cubicBezTo>
                <a:cubicBezTo>
                  <a:pt x="93460" y="-10716"/>
                  <a:pt x="90681" y="-9008"/>
                  <a:pt x="89308" y="-6329"/>
                </a:cubicBezTo>
                <a:lnTo>
                  <a:pt x="64662" y="41958"/>
                </a:lnTo>
                <a:lnTo>
                  <a:pt x="11117" y="50464"/>
                </a:lnTo>
                <a:cubicBezTo>
                  <a:pt x="8137" y="50933"/>
                  <a:pt x="5659" y="53042"/>
                  <a:pt x="4722" y="55922"/>
                </a:cubicBezTo>
                <a:cubicBezTo>
                  <a:pt x="3784" y="58802"/>
                  <a:pt x="4554" y="61950"/>
                  <a:pt x="6664" y="64093"/>
                </a:cubicBezTo>
                <a:lnTo>
                  <a:pt x="44972" y="102435"/>
                </a:lnTo>
                <a:lnTo>
                  <a:pt x="36534" y="155979"/>
                </a:lnTo>
                <a:cubicBezTo>
                  <a:pt x="36065" y="158960"/>
                  <a:pt x="37304" y="161973"/>
                  <a:pt x="39748" y="163748"/>
                </a:cubicBezTo>
                <a:cubicBezTo>
                  <a:pt x="42193" y="165523"/>
                  <a:pt x="45407" y="165791"/>
                  <a:pt x="48120" y="164418"/>
                </a:cubicBezTo>
                <a:lnTo>
                  <a:pt x="96474" y="139839"/>
                </a:lnTo>
                <a:lnTo>
                  <a:pt x="144795" y="164418"/>
                </a:lnTo>
                <a:cubicBezTo>
                  <a:pt x="147474" y="165791"/>
                  <a:pt x="150722" y="165523"/>
                  <a:pt x="153166" y="163748"/>
                </a:cubicBezTo>
                <a:cubicBezTo>
                  <a:pt x="155611" y="161973"/>
                  <a:pt x="156850" y="158993"/>
                  <a:pt x="156381" y="155979"/>
                </a:cubicBezTo>
                <a:lnTo>
                  <a:pt x="147909" y="102435"/>
                </a:lnTo>
                <a:lnTo>
                  <a:pt x="186217" y="64093"/>
                </a:lnTo>
                <a:cubicBezTo>
                  <a:pt x="188361" y="61950"/>
                  <a:pt x="189097" y="58802"/>
                  <a:pt x="188160" y="55922"/>
                </a:cubicBezTo>
                <a:cubicBezTo>
                  <a:pt x="187222" y="53042"/>
                  <a:pt x="184778" y="50933"/>
                  <a:pt x="181764" y="50464"/>
                </a:cubicBezTo>
                <a:lnTo>
                  <a:pt x="128253" y="41958"/>
                </a:lnTo>
                <a:lnTo>
                  <a:pt x="103640" y="-6329"/>
                </a:ln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45" name="Text 42"/>
          <p:cNvSpPr/>
          <p:nvPr/>
        </p:nvSpPr>
        <p:spPr>
          <a:xfrm>
            <a:off x="6657975" y="3752850"/>
            <a:ext cx="50482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this matters to investors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438900" y="4095750"/>
            <a:ext cx="5257800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founder did not hire this product into existence. They </a:t>
            </a:r>
            <a:pPr>
              <a:lnSpc>
                <a:spcPct val="140000"/>
              </a:lnSpc>
            </a:pPr>
            <a:r>
              <a:rPr lang="en-US" sz="12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learned every skill required to build it while building it</a:t>
            </a:r>
            <a:pPr>
              <a:lnSpc>
                <a:spcPct val="140000"/>
              </a:lnSpc>
            </a:pPr>
            <a:r>
              <a:rPr lang="en-US" sz="12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— the same compounding learning model that Verbll teaches its users. That is not a coincidence. It is the proof of concept.</a:t>
            </a:r>
            <a:endParaRPr lang="en-US" sz="1600" dirty="0"/>
          </a:p>
        </p:txBody>
      </p:sp>
      <p:sp>
        <p:nvSpPr>
          <p:cNvPr id="47" name="Text 44"/>
          <p:cNvSpPr/>
          <p:nvPr/>
        </p:nvSpPr>
        <p:spPr>
          <a:xfrm>
            <a:off x="347663" y="62865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05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Aipresso Private Limited. Registered in England &amp; Wales. Company No. 16218778. Incorporated January 2025. Unit 13 Freeland Park, Poole, England.</a:t>
            </a:r>
            <a:endParaRPr lang="en-US" sz="1600" dirty="0"/>
          </a:p>
        </p:txBody>
      </p:sp>
      <p:pic>
        <p:nvPicPr>
          <p:cNvPr id="48" name="Image 1" descr="https://kimi-img.moonshot.cn/pub/slides/26-03-17-22:00:32-d6slt03fj2j45vb6nnp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0975" y="222541"/>
            <a:ext cx="425159" cy="42515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919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dcb847d210a66e344b58ddf2f1ec61f18c66d2a5.jpe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176" r="176" t="0" b="0"/>
          <a:stretch/>
        </p:blipFill>
        <p:spPr>
          <a:xfrm>
            <a:off x="0" y="0"/>
            <a:ext cx="12192000" cy="6857456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7456"/>
          </a:xfrm>
          <a:custGeom>
            <a:avLst/>
            <a:gdLst/>
            <a:ahLst/>
            <a:cxnLst/>
            <a:rect l="l" t="t" r="r" b="b"/>
            <a:pathLst>
              <a:path w="12192000" h="6857456">
                <a:moveTo>
                  <a:pt x="0" y="0"/>
                </a:moveTo>
                <a:lnTo>
                  <a:pt x="12192000" y="0"/>
                </a:lnTo>
                <a:lnTo>
                  <a:pt x="12192000" y="6857456"/>
                </a:lnTo>
                <a:lnTo>
                  <a:pt x="0" y="6857456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91919">
                  <a:alpha val="95000"/>
                </a:srgbClr>
              </a:gs>
              <a:gs pos="50000">
                <a:srgbClr val="191919">
                  <a:alpha val="85000"/>
                </a:srgbClr>
              </a:gs>
              <a:gs pos="100000">
                <a:srgbClr val="6366F1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Text 1"/>
          <p:cNvSpPr/>
          <p:nvPr/>
        </p:nvSpPr>
        <p:spPr>
          <a:xfrm>
            <a:off x="348094" y="348094"/>
            <a:ext cx="11556728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b="1" spc="96" kern="0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VISION &amp; THE ASK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348094" y="591760"/>
            <a:ext cx="11652454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467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 5 years, every institute uses Verbll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48094" y="1009473"/>
            <a:ext cx="11582835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dirty="0">
                <a:solidFill>
                  <a:srgbClr val="8F8F8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as part of how education works. We are raising £1M to get there.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52445" y="1431537"/>
            <a:ext cx="7936548" cy="3091657"/>
          </a:xfrm>
          <a:custGeom>
            <a:avLst/>
            <a:gdLst/>
            <a:ahLst/>
            <a:cxnLst/>
            <a:rect l="l" t="t" r="r" b="b"/>
            <a:pathLst>
              <a:path w="7936548" h="3091657">
                <a:moveTo>
                  <a:pt x="104439" y="0"/>
                </a:moveTo>
                <a:lnTo>
                  <a:pt x="7832109" y="0"/>
                </a:lnTo>
                <a:cubicBezTo>
                  <a:pt x="7889789" y="0"/>
                  <a:pt x="7936548" y="56696"/>
                  <a:pt x="7936548" y="126634"/>
                </a:cubicBezTo>
                <a:lnTo>
                  <a:pt x="7936548" y="2965023"/>
                </a:lnTo>
                <a:cubicBezTo>
                  <a:pt x="7936548" y="3034961"/>
                  <a:pt x="7889789" y="3091657"/>
                  <a:pt x="7832109" y="3091657"/>
                </a:cubicBezTo>
                <a:lnTo>
                  <a:pt x="104439" y="3091657"/>
                </a:lnTo>
                <a:cubicBezTo>
                  <a:pt x="46759" y="3091657"/>
                  <a:pt x="0" y="3034961"/>
                  <a:pt x="0" y="2965023"/>
                </a:cubicBezTo>
                <a:lnTo>
                  <a:pt x="0" y="126634"/>
                </a:lnTo>
                <a:cubicBezTo>
                  <a:pt x="0" y="56743"/>
                  <a:pt x="46798" y="0"/>
                  <a:pt x="104439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52600" y="1644745"/>
            <a:ext cx="174047" cy="174047"/>
          </a:xfrm>
          <a:custGeom>
            <a:avLst/>
            <a:gdLst/>
            <a:ahLst/>
            <a:cxnLst/>
            <a:rect l="l" t="t" r="r" b="b"/>
            <a:pathLst>
              <a:path w="174047" h="174047">
                <a:moveTo>
                  <a:pt x="76112" y="10878"/>
                </a:moveTo>
                <a:lnTo>
                  <a:pt x="50209" y="10878"/>
                </a:lnTo>
                <a:cubicBezTo>
                  <a:pt x="40214" y="10878"/>
                  <a:pt x="31478" y="17711"/>
                  <a:pt x="29099" y="27399"/>
                </a:cubicBezTo>
                <a:lnTo>
                  <a:pt x="476" y="142943"/>
                </a:lnTo>
                <a:cubicBezTo>
                  <a:pt x="-2074" y="153209"/>
                  <a:pt x="5711" y="163169"/>
                  <a:pt x="16317" y="163169"/>
                </a:cubicBezTo>
                <a:lnTo>
                  <a:pt x="76112" y="163169"/>
                </a:lnTo>
                <a:lnTo>
                  <a:pt x="76112" y="141413"/>
                </a:lnTo>
                <a:cubicBezTo>
                  <a:pt x="76112" y="135396"/>
                  <a:pt x="80973" y="130535"/>
                  <a:pt x="86990" y="130535"/>
                </a:cubicBezTo>
                <a:cubicBezTo>
                  <a:pt x="93006" y="130535"/>
                  <a:pt x="97868" y="135396"/>
                  <a:pt x="97868" y="141413"/>
                </a:cubicBezTo>
                <a:lnTo>
                  <a:pt x="97868" y="163169"/>
                </a:lnTo>
                <a:lnTo>
                  <a:pt x="157730" y="163169"/>
                </a:lnTo>
                <a:cubicBezTo>
                  <a:pt x="168336" y="163169"/>
                  <a:pt x="176121" y="153209"/>
                  <a:pt x="173571" y="142943"/>
                </a:cubicBezTo>
                <a:lnTo>
                  <a:pt x="144983" y="27399"/>
                </a:lnTo>
                <a:cubicBezTo>
                  <a:pt x="142569" y="17711"/>
                  <a:pt x="133867" y="10878"/>
                  <a:pt x="123839" y="10878"/>
                </a:cubicBezTo>
                <a:lnTo>
                  <a:pt x="97868" y="10878"/>
                </a:lnTo>
                <a:lnTo>
                  <a:pt x="97868" y="32634"/>
                </a:lnTo>
                <a:cubicBezTo>
                  <a:pt x="97868" y="38651"/>
                  <a:pt x="93006" y="43512"/>
                  <a:pt x="86990" y="43512"/>
                </a:cubicBezTo>
                <a:cubicBezTo>
                  <a:pt x="80973" y="43512"/>
                  <a:pt x="76112" y="38651"/>
                  <a:pt x="76112" y="32634"/>
                </a:cubicBezTo>
                <a:lnTo>
                  <a:pt x="76112" y="10878"/>
                </a:lnTo>
                <a:close/>
                <a:moveTo>
                  <a:pt x="97868" y="76146"/>
                </a:moveTo>
                <a:lnTo>
                  <a:pt x="97868" y="97901"/>
                </a:lnTo>
                <a:cubicBezTo>
                  <a:pt x="97868" y="103918"/>
                  <a:pt x="93006" y="108779"/>
                  <a:pt x="86990" y="108779"/>
                </a:cubicBezTo>
                <a:cubicBezTo>
                  <a:pt x="80973" y="108779"/>
                  <a:pt x="76112" y="103918"/>
                  <a:pt x="76112" y="97901"/>
                </a:cubicBezTo>
                <a:lnTo>
                  <a:pt x="76112" y="76146"/>
                </a:lnTo>
                <a:cubicBezTo>
                  <a:pt x="76112" y="70129"/>
                  <a:pt x="80973" y="65268"/>
                  <a:pt x="86990" y="65268"/>
                </a:cubicBezTo>
                <a:cubicBezTo>
                  <a:pt x="93006" y="65268"/>
                  <a:pt x="97868" y="70129"/>
                  <a:pt x="97868" y="7614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9" name="Text 6"/>
          <p:cNvSpPr/>
          <p:nvPr/>
        </p:nvSpPr>
        <p:spPr>
          <a:xfrm>
            <a:off x="748403" y="1609936"/>
            <a:ext cx="7449216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roadmap in three stages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530844" y="1992839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104428" y="0"/>
                </a:moveTo>
                <a:lnTo>
                  <a:pt x="313285" y="0"/>
                </a:lnTo>
                <a:cubicBezTo>
                  <a:pt x="370959" y="0"/>
                  <a:pt x="417713" y="46754"/>
                  <a:pt x="417713" y="104428"/>
                </a:cubicBezTo>
                <a:lnTo>
                  <a:pt x="417713" y="313285"/>
                </a:lnTo>
                <a:cubicBezTo>
                  <a:pt x="417713" y="370959"/>
                  <a:pt x="370959" y="417713"/>
                  <a:pt x="313285" y="417713"/>
                </a:cubicBezTo>
                <a:lnTo>
                  <a:pt x="104428" y="417713"/>
                </a:lnTo>
                <a:cubicBezTo>
                  <a:pt x="46754" y="417713"/>
                  <a:pt x="0" y="370959"/>
                  <a:pt x="0" y="313285"/>
                </a:cubicBezTo>
                <a:lnTo>
                  <a:pt x="0" y="104428"/>
                </a:lnTo>
                <a:cubicBezTo>
                  <a:pt x="0" y="46793"/>
                  <a:pt x="46793" y="0"/>
                  <a:pt x="10442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1" name="Text 8"/>
          <p:cNvSpPr/>
          <p:nvPr/>
        </p:nvSpPr>
        <p:spPr>
          <a:xfrm>
            <a:off x="704891" y="2079863"/>
            <a:ext cx="15664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87794" y="1992839"/>
            <a:ext cx="4168428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Now — Consumer Launch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87794" y="2079863"/>
            <a:ext cx="7109824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C2C0B6"/>
                </a:solidFill>
                <a:latin typeface="Anthropic Sans, -apple-system, system-ui, Segoe UI, sans-serif" pitchFamily="34" charset="0"/>
                <a:ea typeface="Anthropic Sans, -apple-system, system-ui, Segoe UI, sans-serif" pitchFamily="34" charset="-122"/>
                <a:cs typeface="Anthropic Sans, -apple-system, system-ui, Segoe UI, sans-serif" pitchFamily="34" charset="-120"/>
              </a:rPr>
              <a:t>Free tier + $15/month paid. UK, India, Europe. Campus-led growth. Word of mouth primary driver.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552600" y="2768509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104428" y="0"/>
                </a:moveTo>
                <a:lnTo>
                  <a:pt x="313285" y="0"/>
                </a:lnTo>
                <a:cubicBezTo>
                  <a:pt x="370959" y="0"/>
                  <a:pt x="417713" y="46754"/>
                  <a:pt x="417713" y="104428"/>
                </a:cubicBezTo>
                <a:lnTo>
                  <a:pt x="417713" y="313285"/>
                </a:lnTo>
                <a:cubicBezTo>
                  <a:pt x="417713" y="370959"/>
                  <a:pt x="370959" y="417713"/>
                  <a:pt x="313285" y="417713"/>
                </a:cubicBezTo>
                <a:lnTo>
                  <a:pt x="104428" y="417713"/>
                </a:lnTo>
                <a:cubicBezTo>
                  <a:pt x="46754" y="417713"/>
                  <a:pt x="0" y="370959"/>
                  <a:pt x="0" y="313285"/>
                </a:cubicBezTo>
                <a:lnTo>
                  <a:pt x="0" y="104428"/>
                </a:lnTo>
                <a:cubicBezTo>
                  <a:pt x="0" y="46793"/>
                  <a:pt x="46793" y="0"/>
                  <a:pt x="10442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5" name="Text 12"/>
          <p:cNvSpPr/>
          <p:nvPr/>
        </p:nvSpPr>
        <p:spPr>
          <a:xfrm>
            <a:off x="726647" y="2855533"/>
            <a:ext cx="19145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96497" y="2646676"/>
            <a:ext cx="710112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 2 — Institutional Entry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13901" y="2977366"/>
            <a:ext cx="7083717" cy="348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C2C0B6"/>
                </a:solidFill>
                <a:latin typeface="Anthropic Sans, -apple-system, system-ui, Segoe UI, sans-serif" pitchFamily="34" charset="0"/>
                <a:ea typeface="Anthropic Sans, -apple-system, system-ui, Segoe UI, sans-serif" pitchFamily="34" charset="-122"/>
                <a:cs typeface="Anthropic Sans, -apple-system, system-ui, Segoe UI, sans-serif" pitchFamily="34" charset="-120"/>
              </a:rPr>
              <a:t>Schools and universities adopt because students already trust it. Per-student licensing. B2B2C model. Turnitin playbook.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517790" y="3646287"/>
            <a:ext cx="417713" cy="417713"/>
          </a:xfrm>
          <a:custGeom>
            <a:avLst/>
            <a:gdLst/>
            <a:ahLst/>
            <a:cxnLst/>
            <a:rect l="l" t="t" r="r" b="b"/>
            <a:pathLst>
              <a:path w="417713" h="417713">
                <a:moveTo>
                  <a:pt x="104428" y="0"/>
                </a:moveTo>
                <a:lnTo>
                  <a:pt x="313285" y="0"/>
                </a:lnTo>
                <a:cubicBezTo>
                  <a:pt x="370959" y="0"/>
                  <a:pt x="417713" y="46754"/>
                  <a:pt x="417713" y="104428"/>
                </a:cubicBezTo>
                <a:lnTo>
                  <a:pt x="417713" y="313285"/>
                </a:lnTo>
                <a:cubicBezTo>
                  <a:pt x="417713" y="370959"/>
                  <a:pt x="370959" y="417713"/>
                  <a:pt x="313285" y="417713"/>
                </a:cubicBezTo>
                <a:lnTo>
                  <a:pt x="104428" y="417713"/>
                </a:lnTo>
                <a:cubicBezTo>
                  <a:pt x="46754" y="417713"/>
                  <a:pt x="0" y="370959"/>
                  <a:pt x="0" y="313285"/>
                </a:cubicBezTo>
                <a:lnTo>
                  <a:pt x="0" y="104428"/>
                </a:lnTo>
                <a:cubicBezTo>
                  <a:pt x="0" y="46793"/>
                  <a:pt x="46793" y="0"/>
                  <a:pt x="104428" y="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19" name="Text 16"/>
          <p:cNvSpPr/>
          <p:nvPr/>
        </p:nvSpPr>
        <p:spPr>
          <a:xfrm>
            <a:off x="630921" y="3733310"/>
            <a:ext cx="191452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37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87794" y="3646287"/>
            <a:ext cx="6204779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Year 3+ — Infrastructure Layer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87794" y="3931833"/>
            <a:ext cx="6990289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00" dirty="0">
                <a:solidFill>
                  <a:srgbClr val="C2C0B6"/>
                </a:solidFill>
                <a:latin typeface="Anthropic Sans, -apple-system, system-ui, Segoe UI, sans-serif" pitchFamily="34" charset="0"/>
                <a:ea typeface="Anthropic Sans, -apple-system, system-ui, Segoe UI, sans-serif" pitchFamily="34" charset="-122"/>
                <a:cs typeface="Anthropic Sans, -apple-system, system-ui, Segoe UI, sans-serif" pitchFamily="34" charset="-120"/>
              </a:rPr>
              <a:t>Platform embedded in institutions. Data analytics licensing. Per-user app revenue. Series A territory.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8505533" y="1431537"/>
            <a:ext cx="3333002" cy="2097268"/>
          </a:xfrm>
          <a:custGeom>
            <a:avLst/>
            <a:gdLst/>
            <a:ahLst/>
            <a:cxnLst/>
            <a:rect l="l" t="t" r="r" b="b"/>
            <a:pathLst>
              <a:path w="3333002" h="2097268">
                <a:moveTo>
                  <a:pt x="104423" y="0"/>
                </a:moveTo>
                <a:lnTo>
                  <a:pt x="3228579" y="0"/>
                </a:lnTo>
                <a:cubicBezTo>
                  <a:pt x="3286250" y="0"/>
                  <a:pt x="3333002" y="46752"/>
                  <a:pt x="3333002" y="104423"/>
                </a:cubicBezTo>
                <a:lnTo>
                  <a:pt x="3333002" y="1992845"/>
                </a:lnTo>
                <a:cubicBezTo>
                  <a:pt x="3333002" y="2050516"/>
                  <a:pt x="3286250" y="2097268"/>
                  <a:pt x="3228579" y="2097268"/>
                </a:cubicBezTo>
                <a:lnTo>
                  <a:pt x="104423" y="2097268"/>
                </a:lnTo>
                <a:cubicBezTo>
                  <a:pt x="46752" y="2097268"/>
                  <a:pt x="0" y="2050516"/>
                  <a:pt x="0" y="1992845"/>
                </a:cubicBezTo>
                <a:lnTo>
                  <a:pt x="0" y="104423"/>
                </a:lnTo>
                <a:cubicBezTo>
                  <a:pt x="0" y="46790"/>
                  <a:pt x="46790" y="0"/>
                  <a:pt x="104423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>
                  <a:alpha val="30000"/>
                </a:srgbClr>
              </a:gs>
              <a:gs pos="100000">
                <a:srgbClr val="6366F1">
                  <a:alpha val="10000"/>
                </a:srgbClr>
              </a:gs>
            </a:gsLst>
            <a:lin ang="2700000" scaled="1"/>
          </a:gra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8705687" y="1653448"/>
            <a:ext cx="156642" cy="156642"/>
          </a:xfrm>
          <a:custGeom>
            <a:avLst/>
            <a:gdLst/>
            <a:ahLst/>
            <a:cxnLst/>
            <a:rect l="l" t="t" r="r" b="b"/>
            <a:pathLst>
              <a:path w="156642" h="156642">
                <a:moveTo>
                  <a:pt x="102797" y="107692"/>
                </a:moveTo>
                <a:cubicBezTo>
                  <a:pt x="132534" y="107692"/>
                  <a:pt x="156642" y="83583"/>
                  <a:pt x="156642" y="53846"/>
                </a:cubicBezTo>
                <a:cubicBezTo>
                  <a:pt x="156642" y="24108"/>
                  <a:pt x="132534" y="0"/>
                  <a:pt x="102797" y="0"/>
                </a:cubicBezTo>
                <a:cubicBezTo>
                  <a:pt x="73059" y="0"/>
                  <a:pt x="48951" y="24108"/>
                  <a:pt x="48951" y="53846"/>
                </a:cubicBezTo>
                <a:cubicBezTo>
                  <a:pt x="48951" y="59567"/>
                  <a:pt x="49838" y="65104"/>
                  <a:pt x="51490" y="70275"/>
                </a:cubicBezTo>
                <a:lnTo>
                  <a:pt x="2142" y="119623"/>
                </a:lnTo>
                <a:cubicBezTo>
                  <a:pt x="765" y="121000"/>
                  <a:pt x="0" y="122866"/>
                  <a:pt x="0" y="124824"/>
                </a:cubicBezTo>
                <a:lnTo>
                  <a:pt x="0" y="149300"/>
                </a:lnTo>
                <a:cubicBezTo>
                  <a:pt x="0" y="153369"/>
                  <a:pt x="3274" y="156642"/>
                  <a:pt x="7343" y="156642"/>
                </a:cubicBezTo>
                <a:lnTo>
                  <a:pt x="31818" y="156642"/>
                </a:lnTo>
                <a:cubicBezTo>
                  <a:pt x="35887" y="156642"/>
                  <a:pt x="39161" y="153369"/>
                  <a:pt x="39161" y="149300"/>
                </a:cubicBezTo>
                <a:lnTo>
                  <a:pt x="39161" y="137062"/>
                </a:lnTo>
                <a:lnTo>
                  <a:pt x="51398" y="137062"/>
                </a:lnTo>
                <a:cubicBezTo>
                  <a:pt x="55467" y="137062"/>
                  <a:pt x="58741" y="133789"/>
                  <a:pt x="58741" y="129719"/>
                </a:cubicBezTo>
                <a:lnTo>
                  <a:pt x="58741" y="117482"/>
                </a:lnTo>
                <a:lnTo>
                  <a:pt x="70979" y="117482"/>
                </a:lnTo>
                <a:cubicBezTo>
                  <a:pt x="72937" y="117482"/>
                  <a:pt x="74803" y="116717"/>
                  <a:pt x="76180" y="115340"/>
                </a:cubicBezTo>
                <a:lnTo>
                  <a:pt x="86367" y="105152"/>
                </a:lnTo>
                <a:cubicBezTo>
                  <a:pt x="91538" y="106804"/>
                  <a:pt x="97075" y="107692"/>
                  <a:pt x="102797" y="107692"/>
                </a:cubicBezTo>
                <a:close/>
                <a:moveTo>
                  <a:pt x="115034" y="29370"/>
                </a:moveTo>
                <a:cubicBezTo>
                  <a:pt x="121788" y="29370"/>
                  <a:pt x="127272" y="34854"/>
                  <a:pt x="127272" y="41608"/>
                </a:cubicBezTo>
                <a:cubicBezTo>
                  <a:pt x="127272" y="48362"/>
                  <a:pt x="121788" y="53846"/>
                  <a:pt x="115034" y="53846"/>
                </a:cubicBezTo>
                <a:cubicBezTo>
                  <a:pt x="108280" y="53846"/>
                  <a:pt x="102797" y="48362"/>
                  <a:pt x="102797" y="41608"/>
                </a:cubicBezTo>
                <a:cubicBezTo>
                  <a:pt x="102797" y="34854"/>
                  <a:pt x="108280" y="29370"/>
                  <a:pt x="115034" y="29370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24" name="Text 21"/>
          <p:cNvSpPr/>
          <p:nvPr/>
        </p:nvSpPr>
        <p:spPr>
          <a:xfrm>
            <a:off x="8884085" y="1609936"/>
            <a:ext cx="285437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33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£1M unlocks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708950" y="1984137"/>
            <a:ext cx="106604" cy="121833"/>
          </a:xfrm>
          <a:custGeom>
            <a:avLst/>
            <a:gdLst/>
            <a:ahLst/>
            <a:cxnLst/>
            <a:rect l="l" t="t" r="r" b="b"/>
            <a:pathLst>
              <a:path w="106604" h="121833">
                <a:moveTo>
                  <a:pt x="103463" y="16681"/>
                </a:moveTo>
                <a:cubicBezTo>
                  <a:pt x="106866" y="19155"/>
                  <a:pt x="107627" y="23914"/>
                  <a:pt x="105152" y="27317"/>
                </a:cubicBezTo>
                <a:lnTo>
                  <a:pt x="44236" y="111077"/>
                </a:lnTo>
                <a:cubicBezTo>
                  <a:pt x="42927" y="112886"/>
                  <a:pt x="40904" y="114004"/>
                  <a:pt x="38668" y="114195"/>
                </a:cubicBezTo>
                <a:cubicBezTo>
                  <a:pt x="36431" y="114385"/>
                  <a:pt x="34266" y="113552"/>
                  <a:pt x="32695" y="111982"/>
                </a:cubicBezTo>
                <a:lnTo>
                  <a:pt x="2237" y="81523"/>
                </a:lnTo>
                <a:cubicBezTo>
                  <a:pt x="-738" y="78549"/>
                  <a:pt x="-738" y="73718"/>
                  <a:pt x="2237" y="70744"/>
                </a:cubicBezTo>
                <a:cubicBezTo>
                  <a:pt x="5211" y="67770"/>
                  <a:pt x="10042" y="67770"/>
                  <a:pt x="13016" y="70744"/>
                </a:cubicBezTo>
                <a:lnTo>
                  <a:pt x="37169" y="94896"/>
                </a:lnTo>
                <a:lnTo>
                  <a:pt x="92850" y="18346"/>
                </a:lnTo>
                <a:cubicBezTo>
                  <a:pt x="95325" y="14944"/>
                  <a:pt x="100084" y="14182"/>
                  <a:pt x="103487" y="1665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6" name="Text 23"/>
          <p:cNvSpPr/>
          <p:nvPr/>
        </p:nvSpPr>
        <p:spPr>
          <a:xfrm>
            <a:off x="8905841" y="1958030"/>
            <a:ext cx="63527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Full launch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8708950" y="2227803"/>
            <a:ext cx="106604" cy="121833"/>
          </a:xfrm>
          <a:custGeom>
            <a:avLst/>
            <a:gdLst/>
            <a:ahLst/>
            <a:cxnLst/>
            <a:rect l="l" t="t" r="r" b="b"/>
            <a:pathLst>
              <a:path w="106604" h="121833">
                <a:moveTo>
                  <a:pt x="103463" y="16681"/>
                </a:moveTo>
                <a:cubicBezTo>
                  <a:pt x="106866" y="19155"/>
                  <a:pt x="107627" y="23914"/>
                  <a:pt x="105152" y="27317"/>
                </a:cubicBezTo>
                <a:lnTo>
                  <a:pt x="44236" y="111077"/>
                </a:lnTo>
                <a:cubicBezTo>
                  <a:pt x="42927" y="112886"/>
                  <a:pt x="40904" y="114004"/>
                  <a:pt x="38668" y="114195"/>
                </a:cubicBezTo>
                <a:cubicBezTo>
                  <a:pt x="36431" y="114385"/>
                  <a:pt x="34266" y="113552"/>
                  <a:pt x="32695" y="111982"/>
                </a:cubicBezTo>
                <a:lnTo>
                  <a:pt x="2237" y="81523"/>
                </a:lnTo>
                <a:cubicBezTo>
                  <a:pt x="-738" y="78549"/>
                  <a:pt x="-738" y="73718"/>
                  <a:pt x="2237" y="70744"/>
                </a:cubicBezTo>
                <a:cubicBezTo>
                  <a:pt x="5211" y="67770"/>
                  <a:pt x="10042" y="67770"/>
                  <a:pt x="13016" y="70744"/>
                </a:cubicBezTo>
                <a:lnTo>
                  <a:pt x="37169" y="94896"/>
                </a:lnTo>
                <a:lnTo>
                  <a:pt x="92850" y="18346"/>
                </a:lnTo>
                <a:cubicBezTo>
                  <a:pt x="95325" y="14944"/>
                  <a:pt x="100084" y="14182"/>
                  <a:pt x="103487" y="1665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28" name="Text 25"/>
          <p:cNvSpPr/>
          <p:nvPr/>
        </p:nvSpPr>
        <p:spPr>
          <a:xfrm>
            <a:off x="8905841" y="2201696"/>
            <a:ext cx="154031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Nine-person AI-native team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8708950" y="2471469"/>
            <a:ext cx="106604" cy="121833"/>
          </a:xfrm>
          <a:custGeom>
            <a:avLst/>
            <a:gdLst/>
            <a:ahLst/>
            <a:cxnLst/>
            <a:rect l="l" t="t" r="r" b="b"/>
            <a:pathLst>
              <a:path w="106604" h="121833">
                <a:moveTo>
                  <a:pt x="103463" y="16681"/>
                </a:moveTo>
                <a:cubicBezTo>
                  <a:pt x="106866" y="19155"/>
                  <a:pt x="107627" y="23914"/>
                  <a:pt x="105152" y="27317"/>
                </a:cubicBezTo>
                <a:lnTo>
                  <a:pt x="44236" y="111077"/>
                </a:lnTo>
                <a:cubicBezTo>
                  <a:pt x="42927" y="112886"/>
                  <a:pt x="40904" y="114004"/>
                  <a:pt x="38668" y="114195"/>
                </a:cubicBezTo>
                <a:cubicBezTo>
                  <a:pt x="36431" y="114385"/>
                  <a:pt x="34266" y="113552"/>
                  <a:pt x="32695" y="111982"/>
                </a:cubicBezTo>
                <a:lnTo>
                  <a:pt x="2237" y="81523"/>
                </a:lnTo>
                <a:cubicBezTo>
                  <a:pt x="-738" y="78549"/>
                  <a:pt x="-738" y="73718"/>
                  <a:pt x="2237" y="70744"/>
                </a:cubicBezTo>
                <a:cubicBezTo>
                  <a:pt x="5211" y="67770"/>
                  <a:pt x="10042" y="67770"/>
                  <a:pt x="13016" y="70744"/>
                </a:cubicBezTo>
                <a:lnTo>
                  <a:pt x="37169" y="94896"/>
                </a:lnTo>
                <a:lnTo>
                  <a:pt x="92850" y="18346"/>
                </a:lnTo>
                <a:cubicBezTo>
                  <a:pt x="95325" y="14944"/>
                  <a:pt x="100084" y="14182"/>
                  <a:pt x="103487" y="1665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0" name="Text 27"/>
          <p:cNvSpPr/>
          <p:nvPr/>
        </p:nvSpPr>
        <p:spPr>
          <a:xfrm>
            <a:off x="8905841" y="2445362"/>
            <a:ext cx="1296651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Twelve months runway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8708950" y="2715135"/>
            <a:ext cx="106604" cy="121833"/>
          </a:xfrm>
          <a:custGeom>
            <a:avLst/>
            <a:gdLst/>
            <a:ahLst/>
            <a:cxnLst/>
            <a:rect l="l" t="t" r="r" b="b"/>
            <a:pathLst>
              <a:path w="106604" h="121833">
                <a:moveTo>
                  <a:pt x="103463" y="16681"/>
                </a:moveTo>
                <a:cubicBezTo>
                  <a:pt x="106866" y="19155"/>
                  <a:pt x="107627" y="23914"/>
                  <a:pt x="105152" y="27317"/>
                </a:cubicBezTo>
                <a:lnTo>
                  <a:pt x="44236" y="111077"/>
                </a:lnTo>
                <a:cubicBezTo>
                  <a:pt x="42927" y="112886"/>
                  <a:pt x="40904" y="114004"/>
                  <a:pt x="38668" y="114195"/>
                </a:cubicBezTo>
                <a:cubicBezTo>
                  <a:pt x="36431" y="114385"/>
                  <a:pt x="34266" y="113552"/>
                  <a:pt x="32695" y="111982"/>
                </a:cubicBezTo>
                <a:lnTo>
                  <a:pt x="2237" y="81523"/>
                </a:lnTo>
                <a:cubicBezTo>
                  <a:pt x="-738" y="78549"/>
                  <a:pt x="-738" y="73718"/>
                  <a:pt x="2237" y="70744"/>
                </a:cubicBezTo>
                <a:cubicBezTo>
                  <a:pt x="5211" y="67770"/>
                  <a:pt x="10042" y="67770"/>
                  <a:pt x="13016" y="70744"/>
                </a:cubicBezTo>
                <a:lnTo>
                  <a:pt x="37169" y="94896"/>
                </a:lnTo>
                <a:lnTo>
                  <a:pt x="92850" y="18346"/>
                </a:lnTo>
                <a:cubicBezTo>
                  <a:pt x="95325" y="14944"/>
                  <a:pt x="100084" y="14182"/>
                  <a:pt x="103487" y="1665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2" name="Text 29"/>
          <p:cNvSpPr/>
          <p:nvPr/>
        </p:nvSpPr>
        <p:spPr>
          <a:xfrm>
            <a:off x="8905841" y="2689028"/>
            <a:ext cx="783212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100,000 users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8708950" y="2958801"/>
            <a:ext cx="106604" cy="121833"/>
          </a:xfrm>
          <a:custGeom>
            <a:avLst/>
            <a:gdLst/>
            <a:ahLst/>
            <a:cxnLst/>
            <a:rect l="l" t="t" r="r" b="b"/>
            <a:pathLst>
              <a:path w="106604" h="121833">
                <a:moveTo>
                  <a:pt x="103463" y="16681"/>
                </a:moveTo>
                <a:cubicBezTo>
                  <a:pt x="106866" y="19155"/>
                  <a:pt x="107627" y="23914"/>
                  <a:pt x="105152" y="27317"/>
                </a:cubicBezTo>
                <a:lnTo>
                  <a:pt x="44236" y="111077"/>
                </a:lnTo>
                <a:cubicBezTo>
                  <a:pt x="42927" y="112886"/>
                  <a:pt x="40904" y="114004"/>
                  <a:pt x="38668" y="114195"/>
                </a:cubicBezTo>
                <a:cubicBezTo>
                  <a:pt x="36431" y="114385"/>
                  <a:pt x="34266" y="113552"/>
                  <a:pt x="32695" y="111982"/>
                </a:cubicBezTo>
                <a:lnTo>
                  <a:pt x="2237" y="81523"/>
                </a:lnTo>
                <a:cubicBezTo>
                  <a:pt x="-738" y="78549"/>
                  <a:pt x="-738" y="73718"/>
                  <a:pt x="2237" y="70744"/>
                </a:cubicBezTo>
                <a:cubicBezTo>
                  <a:pt x="5211" y="67770"/>
                  <a:pt x="10042" y="67770"/>
                  <a:pt x="13016" y="70744"/>
                </a:cubicBezTo>
                <a:lnTo>
                  <a:pt x="37169" y="94896"/>
                </a:lnTo>
                <a:lnTo>
                  <a:pt x="92850" y="18346"/>
                </a:lnTo>
                <a:cubicBezTo>
                  <a:pt x="95325" y="14944"/>
                  <a:pt x="100084" y="14182"/>
                  <a:pt x="103487" y="1665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4" name="Text 31"/>
          <p:cNvSpPr/>
          <p:nvPr/>
        </p:nvSpPr>
        <p:spPr>
          <a:xfrm>
            <a:off x="8905841" y="2932694"/>
            <a:ext cx="1601233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lake compounding daily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8708950" y="3202467"/>
            <a:ext cx="106604" cy="121833"/>
          </a:xfrm>
          <a:custGeom>
            <a:avLst/>
            <a:gdLst/>
            <a:ahLst/>
            <a:cxnLst/>
            <a:rect l="l" t="t" r="r" b="b"/>
            <a:pathLst>
              <a:path w="106604" h="121833">
                <a:moveTo>
                  <a:pt x="103463" y="16681"/>
                </a:moveTo>
                <a:cubicBezTo>
                  <a:pt x="106866" y="19155"/>
                  <a:pt x="107627" y="23914"/>
                  <a:pt x="105152" y="27317"/>
                </a:cubicBezTo>
                <a:lnTo>
                  <a:pt x="44236" y="111077"/>
                </a:lnTo>
                <a:cubicBezTo>
                  <a:pt x="42927" y="112886"/>
                  <a:pt x="40904" y="114004"/>
                  <a:pt x="38668" y="114195"/>
                </a:cubicBezTo>
                <a:cubicBezTo>
                  <a:pt x="36431" y="114385"/>
                  <a:pt x="34266" y="113552"/>
                  <a:pt x="32695" y="111982"/>
                </a:cubicBezTo>
                <a:lnTo>
                  <a:pt x="2237" y="81523"/>
                </a:lnTo>
                <a:cubicBezTo>
                  <a:pt x="-738" y="78549"/>
                  <a:pt x="-738" y="73718"/>
                  <a:pt x="2237" y="70744"/>
                </a:cubicBezTo>
                <a:cubicBezTo>
                  <a:pt x="5211" y="67770"/>
                  <a:pt x="10042" y="67770"/>
                  <a:pt x="13016" y="70744"/>
                </a:cubicBezTo>
                <a:lnTo>
                  <a:pt x="37169" y="94896"/>
                </a:lnTo>
                <a:lnTo>
                  <a:pt x="92850" y="18346"/>
                </a:lnTo>
                <a:cubicBezTo>
                  <a:pt x="95325" y="14944"/>
                  <a:pt x="100084" y="14182"/>
                  <a:pt x="103487" y="16657"/>
                </a:cubicBezTo>
                <a:close/>
              </a:path>
            </a:pathLst>
          </a:custGeom>
          <a:solidFill>
            <a:srgbClr val="10B981"/>
          </a:solidFill>
          <a:ln/>
        </p:spPr>
      </p:sp>
      <p:sp>
        <p:nvSpPr>
          <p:cNvPr id="36" name="Text 33"/>
          <p:cNvSpPr/>
          <p:nvPr/>
        </p:nvSpPr>
        <p:spPr>
          <a:xfrm>
            <a:off x="8905841" y="3176360"/>
            <a:ext cx="1601233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959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Proof of concept for Series A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348094" y="4854197"/>
            <a:ext cx="7940899" cy="1698677"/>
          </a:xfrm>
          <a:custGeom>
            <a:avLst/>
            <a:gdLst/>
            <a:ahLst/>
            <a:cxnLst/>
            <a:rect l="l" t="t" r="r" b="b"/>
            <a:pathLst>
              <a:path w="7940899" h="1698677">
                <a:moveTo>
                  <a:pt x="248810" y="0"/>
                </a:moveTo>
                <a:lnTo>
                  <a:pt x="7692089" y="0"/>
                </a:lnTo>
                <a:cubicBezTo>
                  <a:pt x="7829503" y="0"/>
                  <a:pt x="7940899" y="53062"/>
                  <a:pt x="7940899" y="118517"/>
                </a:cubicBezTo>
                <a:lnTo>
                  <a:pt x="7940899" y="1580160"/>
                </a:lnTo>
                <a:cubicBezTo>
                  <a:pt x="7940899" y="1645615"/>
                  <a:pt x="7829503" y="1698677"/>
                  <a:pt x="7692089" y="1698677"/>
                </a:cubicBezTo>
                <a:lnTo>
                  <a:pt x="248810" y="1698677"/>
                </a:lnTo>
                <a:cubicBezTo>
                  <a:pt x="111396" y="1698677"/>
                  <a:pt x="0" y="1645615"/>
                  <a:pt x="0" y="1580160"/>
                </a:cubicBezTo>
                <a:lnTo>
                  <a:pt x="0" y="118517"/>
                </a:lnTo>
                <a:cubicBezTo>
                  <a:pt x="0" y="53106"/>
                  <a:pt x="111488" y="0"/>
                  <a:pt x="248810" y="0"/>
                </a:cubicBezTo>
                <a:close/>
              </a:path>
            </a:pathLst>
          </a:custGeom>
          <a:solidFill>
            <a:srgbClr val="26262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52600" y="4999099"/>
            <a:ext cx="328548" cy="312068"/>
          </a:xfrm>
          <a:custGeom>
            <a:avLst/>
            <a:gdLst/>
            <a:ahLst/>
            <a:cxnLst/>
            <a:rect l="l" t="t" r="r" b="b"/>
            <a:pathLst>
              <a:path w="328548" h="312068">
                <a:moveTo>
                  <a:pt x="153379" y="51930"/>
                </a:moveTo>
                <a:lnTo>
                  <a:pt x="86871" y="130922"/>
                </a:lnTo>
                <a:cubicBezTo>
                  <a:pt x="84247" y="134031"/>
                  <a:pt x="84362" y="138846"/>
                  <a:pt x="87156" y="141832"/>
                </a:cubicBezTo>
                <a:cubicBezTo>
                  <a:pt x="104554" y="160422"/>
                  <a:pt x="132788" y="160422"/>
                  <a:pt x="150185" y="141832"/>
                </a:cubicBezTo>
                <a:lnTo>
                  <a:pt x="168324" y="122450"/>
                </a:lnTo>
                <a:cubicBezTo>
                  <a:pt x="170719" y="119890"/>
                  <a:pt x="173743" y="118488"/>
                  <a:pt x="176823" y="118244"/>
                </a:cubicBezTo>
                <a:cubicBezTo>
                  <a:pt x="180701" y="117879"/>
                  <a:pt x="184694" y="119281"/>
                  <a:pt x="187660" y="122450"/>
                </a:cubicBezTo>
                <a:lnTo>
                  <a:pt x="288392" y="229175"/>
                </a:lnTo>
                <a:lnTo>
                  <a:pt x="328548" y="195042"/>
                </a:lnTo>
                <a:lnTo>
                  <a:pt x="328548" y="19504"/>
                </a:lnTo>
                <a:lnTo>
                  <a:pt x="264664" y="58513"/>
                </a:lnTo>
                <a:lnTo>
                  <a:pt x="251088" y="48822"/>
                </a:lnTo>
                <a:cubicBezTo>
                  <a:pt x="242076" y="42422"/>
                  <a:pt x="231524" y="39008"/>
                  <a:pt x="220686" y="39008"/>
                </a:cubicBezTo>
                <a:lnTo>
                  <a:pt x="180530" y="39008"/>
                </a:lnTo>
                <a:cubicBezTo>
                  <a:pt x="179903" y="39008"/>
                  <a:pt x="179218" y="39008"/>
                  <a:pt x="178591" y="39069"/>
                </a:cubicBezTo>
                <a:cubicBezTo>
                  <a:pt x="168951" y="39618"/>
                  <a:pt x="159882" y="44250"/>
                  <a:pt x="153379" y="51930"/>
                </a:cubicBezTo>
                <a:close/>
                <a:moveTo>
                  <a:pt x="66508" y="111357"/>
                </a:moveTo>
                <a:lnTo>
                  <a:pt x="127426" y="39008"/>
                </a:lnTo>
                <a:lnTo>
                  <a:pt x="104839" y="39008"/>
                </a:lnTo>
                <a:cubicBezTo>
                  <a:pt x="90294" y="39008"/>
                  <a:pt x="76376" y="45164"/>
                  <a:pt x="66109" y="56136"/>
                </a:cubicBezTo>
                <a:lnTo>
                  <a:pt x="63884" y="58513"/>
                </a:lnTo>
                <a:lnTo>
                  <a:pt x="0" y="19504"/>
                </a:lnTo>
                <a:lnTo>
                  <a:pt x="0" y="195042"/>
                </a:lnTo>
                <a:lnTo>
                  <a:pt x="89210" y="274461"/>
                </a:lnTo>
                <a:cubicBezTo>
                  <a:pt x="102329" y="286164"/>
                  <a:pt x="118870" y="292563"/>
                  <a:pt x="135925" y="292563"/>
                </a:cubicBezTo>
                <a:lnTo>
                  <a:pt x="144881" y="292563"/>
                </a:lnTo>
                <a:lnTo>
                  <a:pt x="140888" y="288297"/>
                </a:lnTo>
                <a:cubicBezTo>
                  <a:pt x="135526" y="282567"/>
                  <a:pt x="135526" y="273303"/>
                  <a:pt x="140888" y="267635"/>
                </a:cubicBezTo>
                <a:cubicBezTo>
                  <a:pt x="146249" y="261966"/>
                  <a:pt x="154919" y="261905"/>
                  <a:pt x="160224" y="267635"/>
                </a:cubicBezTo>
                <a:lnTo>
                  <a:pt x="183610" y="292624"/>
                </a:lnTo>
                <a:lnTo>
                  <a:pt x="188744" y="292624"/>
                </a:lnTo>
                <a:cubicBezTo>
                  <a:pt x="199638" y="292624"/>
                  <a:pt x="210305" y="290003"/>
                  <a:pt x="220002" y="285127"/>
                </a:cubicBezTo>
                <a:lnTo>
                  <a:pt x="204772" y="268793"/>
                </a:lnTo>
                <a:cubicBezTo>
                  <a:pt x="199410" y="263063"/>
                  <a:pt x="199410" y="253799"/>
                  <a:pt x="204772" y="248130"/>
                </a:cubicBezTo>
                <a:cubicBezTo>
                  <a:pt x="210134" y="242462"/>
                  <a:pt x="218804" y="242401"/>
                  <a:pt x="224108" y="248130"/>
                </a:cubicBezTo>
                <a:lnTo>
                  <a:pt x="242361" y="267635"/>
                </a:lnTo>
                <a:lnTo>
                  <a:pt x="252343" y="256968"/>
                </a:lnTo>
                <a:cubicBezTo>
                  <a:pt x="257420" y="251544"/>
                  <a:pt x="258903" y="243681"/>
                  <a:pt x="256678" y="236793"/>
                </a:cubicBezTo>
                <a:lnTo>
                  <a:pt x="178020" y="153413"/>
                </a:lnTo>
                <a:lnTo>
                  <a:pt x="169522" y="162495"/>
                </a:lnTo>
                <a:cubicBezTo>
                  <a:pt x="141401" y="192543"/>
                  <a:pt x="95884" y="192543"/>
                  <a:pt x="67763" y="162495"/>
                </a:cubicBezTo>
                <a:cubicBezTo>
                  <a:pt x="54644" y="148476"/>
                  <a:pt x="54131" y="125985"/>
                  <a:pt x="66508" y="111296"/>
                </a:cubicBezTo>
                <a:close/>
              </a:path>
            </a:pathLst>
          </a:custGeom>
          <a:solidFill>
            <a:srgbClr val="6366F1"/>
          </a:solidFill>
          <a:ln/>
        </p:spPr>
      </p:sp>
      <p:sp>
        <p:nvSpPr>
          <p:cNvPr id="39" name="Text 36"/>
          <p:cNvSpPr/>
          <p:nvPr/>
        </p:nvSpPr>
        <p:spPr>
          <a:xfrm>
            <a:off x="1087794" y="4999099"/>
            <a:ext cx="2854373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we are looking for</a:t>
            </a:r>
            <a:endParaRPr lang="en-US" sz="1600" dirty="0"/>
          </a:p>
        </p:txBody>
      </p:sp>
      <p:sp>
        <p:nvSpPr>
          <p:cNvPr id="40" name="Text 37"/>
          <p:cNvSpPr/>
          <p:nvPr/>
        </p:nvSpPr>
        <p:spPr>
          <a:xfrm>
            <a:off x="429783" y="5491186"/>
            <a:ext cx="7648301" cy="791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 investor who understands that the EdTech winners of the next decade will not be built on content — they will be built on </a:t>
            </a:r>
            <a:pPr>
              <a:lnSpc>
                <a:spcPct val="140000"/>
              </a:lnSpc>
            </a:pPr>
            <a:r>
              <a:rPr lang="en-US" sz="1400" b="1" dirty="0">
                <a:solidFill>
                  <a:srgbClr val="6366F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learner intelligence</a:t>
            </a:r>
            <a:pPr>
              <a:lnSpc>
                <a:spcPct val="140000"/>
              </a:lnSpc>
            </a:pPr>
            <a:r>
              <a:rPr lang="en-US" sz="1400" dirty="0">
                <a:solidFill>
                  <a:srgbClr val="EFEFE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. We are building that layer. We are looking for the right partner to scale it.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8563118" y="4258842"/>
            <a:ext cx="3341704" cy="1444693"/>
          </a:xfrm>
          <a:custGeom>
            <a:avLst/>
            <a:gdLst/>
            <a:ahLst/>
            <a:cxnLst/>
            <a:rect l="l" t="t" r="r" b="b"/>
            <a:pathLst>
              <a:path w="3341704" h="1444693">
                <a:moveTo>
                  <a:pt x="104433" y="0"/>
                </a:moveTo>
                <a:lnTo>
                  <a:pt x="3237271" y="0"/>
                </a:lnTo>
                <a:cubicBezTo>
                  <a:pt x="3294948" y="0"/>
                  <a:pt x="3341704" y="43854"/>
                  <a:pt x="3341704" y="97950"/>
                </a:cubicBezTo>
                <a:lnTo>
                  <a:pt x="3341704" y="1346743"/>
                </a:lnTo>
                <a:cubicBezTo>
                  <a:pt x="3341704" y="1400840"/>
                  <a:pt x="3294948" y="1444693"/>
                  <a:pt x="3237271" y="1444693"/>
                </a:cubicBezTo>
                <a:lnTo>
                  <a:pt x="104433" y="1444693"/>
                </a:lnTo>
                <a:cubicBezTo>
                  <a:pt x="46756" y="1444693"/>
                  <a:pt x="0" y="1400840"/>
                  <a:pt x="0" y="1346743"/>
                </a:cubicBezTo>
                <a:lnTo>
                  <a:pt x="0" y="97950"/>
                </a:lnTo>
                <a:cubicBezTo>
                  <a:pt x="0" y="43890"/>
                  <a:pt x="46795" y="0"/>
                  <a:pt x="104433" y="0"/>
                </a:cubicBezTo>
                <a:close/>
              </a:path>
            </a:pathLst>
          </a:custGeom>
          <a:gradFill rotWithShape="1" flip="none">
            <a:gsLst>
              <a:gs pos="0">
                <a:srgbClr val="6366F1"/>
              </a:gs>
              <a:gs pos="100000">
                <a:srgbClr val="6366F1">
                  <a:alpha val="80000"/>
                </a:srgbClr>
              </a:gs>
            </a:gsLst>
            <a:lin ang="0" scaled="1"/>
          </a:gradFill>
          <a:ln/>
        </p:spPr>
      </p:sp>
      <p:sp>
        <p:nvSpPr>
          <p:cNvPr id="42" name="Text 39"/>
          <p:cNvSpPr/>
          <p:nvPr/>
        </p:nvSpPr>
        <p:spPr>
          <a:xfrm>
            <a:off x="8671897" y="4432889"/>
            <a:ext cx="3124146" cy="31328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056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£1,000,000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8706707" y="4780983"/>
            <a:ext cx="305452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Pre-Seed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8675229" y="6117756"/>
            <a:ext cx="2993610" cy="8702"/>
          </a:xfrm>
          <a:custGeom>
            <a:avLst/>
            <a:gdLst/>
            <a:ahLst/>
            <a:cxnLst/>
            <a:rect l="l" t="t" r="r" b="b"/>
            <a:pathLst>
              <a:path w="2993610" h="8702">
                <a:moveTo>
                  <a:pt x="0" y="0"/>
                </a:moveTo>
                <a:lnTo>
                  <a:pt x="2993610" y="0"/>
                </a:lnTo>
                <a:lnTo>
                  <a:pt x="2993610" y="8702"/>
                </a:lnTo>
                <a:lnTo>
                  <a:pt x="0" y="8702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30196"/>
            </a:srgbClr>
          </a:solidFill>
          <a:ln/>
        </p:spPr>
      </p:sp>
      <p:sp>
        <p:nvSpPr>
          <p:cNvPr id="45" name="Text 42"/>
          <p:cNvSpPr/>
          <p:nvPr/>
        </p:nvSpPr>
        <p:spPr>
          <a:xfrm>
            <a:off x="8706707" y="5172589"/>
            <a:ext cx="3054527" cy="1740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959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Aipresso Pvt Ltd — UK registered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8698004" y="5381446"/>
            <a:ext cx="3071931" cy="2436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233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verbll.com</a:t>
            </a:r>
            <a:endParaRPr lang="en-US" sz="1600" dirty="0"/>
          </a:p>
        </p:txBody>
      </p:sp>
      <p:pic>
        <p:nvPicPr>
          <p:cNvPr id="47" name="Image 1" descr="https://kimi-img.moonshot.cn/pub/slides/26-03-17-22:00:32-d6slt03fj2j45vb6nnp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10975" y="222541"/>
            <a:ext cx="425159" cy="425159"/>
          </a:xfrm>
          <a:prstGeom prst="rect">
            <a:avLst/>
          </a:prstGeom>
        </p:spPr>
      </p:pic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Verbll — £1M Pre-Seed Pitch Deck</dc:title>
  <dc:subject>Verbll — £1M Pre-Seed Pitch Deck</dc:subject>
  <dc:creator>Kimi</dc:creator>
  <cp:lastModifiedBy>Kimi</cp:lastModifiedBy>
  <cp:revision>1</cp:revision>
  <dcterms:created xsi:type="dcterms:W3CDTF">2026-03-17T16:26:26Z</dcterms:created>
  <dcterms:modified xsi:type="dcterms:W3CDTF">2026-03-17T16:26:26Z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{"Label":"Verbll — £1M Pre-Seed Pitch Deck","ContentProducer":"001191110108MACG2KBH8F10000","ProduceID":"19cfba85-4462-8fa1-8000-000049e54176","ReservedCode1":"","ContentPropagator":"001191110108MACG2KBH8F20000","PropagateID":"19cfba85-4462-8fa1-8000-000049e54176","ReservedCode2":""}</vt:lpwstr>
  </property>
</Properties>
</file>